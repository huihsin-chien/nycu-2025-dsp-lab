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3" r:id="rId1"/>
  </p:sldMasterIdLst>
  <p:sldIdLst>
    <p:sldId id="256" r:id="rId2"/>
    <p:sldId id="257" r:id="rId3"/>
    <p:sldId id="258" r:id="rId4"/>
    <p:sldId id="316" r:id="rId5"/>
    <p:sldId id="290" r:id="rId6"/>
    <p:sldId id="260" r:id="rId7"/>
    <p:sldId id="314" r:id="rId8"/>
    <p:sldId id="317" r:id="rId9"/>
    <p:sldId id="286" r:id="rId10"/>
    <p:sldId id="287" r:id="rId11"/>
    <p:sldId id="312" r:id="rId12"/>
    <p:sldId id="309" r:id="rId13"/>
    <p:sldId id="315" r:id="rId14"/>
    <p:sldId id="310" r:id="rId15"/>
    <p:sldId id="319" r:id="rId16"/>
    <p:sldId id="295" r:id="rId17"/>
    <p:sldId id="296" r:id="rId18"/>
    <p:sldId id="318" r:id="rId19"/>
    <p:sldId id="306" r:id="rId20"/>
    <p:sldId id="307" r:id="rId21"/>
    <p:sldId id="301" r:id="rId22"/>
    <p:sldId id="304" r:id="rId23"/>
    <p:sldId id="308" r:id="rId24"/>
    <p:sldId id="29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  <a:srgbClr val="EB3D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6ED3E0-A110-4CC7-B3B5-4D6D7439EA48}" v="2" dt="2025-11-24T03:10:05.2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4" autoAdjust="0"/>
    <p:restoredTop sz="94660"/>
  </p:normalViewPr>
  <p:slideViewPr>
    <p:cSldViewPr snapToGrid="0">
      <p:cViewPr varScale="1">
        <p:scale>
          <a:sx n="81" d="100"/>
          <a:sy n="81" d="100"/>
        </p:scale>
        <p:origin x="72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惠心 簡" userId="7494a85472f25f00" providerId="LiveId" clId="{4151118C-67CD-42CB-A947-F50F90C04C80}"/>
    <pc:docChg chg="undo custSel modSld">
      <pc:chgData name="惠心 簡" userId="7494a85472f25f00" providerId="LiveId" clId="{4151118C-67CD-42CB-A947-F50F90C04C80}" dt="2025-11-24T03:10:05.277" v="7" actId="27636"/>
      <pc:docMkLst>
        <pc:docMk/>
      </pc:docMkLst>
      <pc:sldChg chg="modSp mod">
        <pc:chgData name="惠心 簡" userId="7494a85472f25f00" providerId="LiveId" clId="{4151118C-67CD-42CB-A947-F50F90C04C80}" dt="2025-11-24T02:53:16.921" v="2" actId="20577"/>
        <pc:sldMkLst>
          <pc:docMk/>
          <pc:sldMk cId="773788289" sldId="296"/>
        </pc:sldMkLst>
        <pc:spChg chg="mod">
          <ac:chgData name="惠心 簡" userId="7494a85472f25f00" providerId="LiveId" clId="{4151118C-67CD-42CB-A947-F50F90C04C80}" dt="2025-11-24T02:53:16.921" v="2" actId="20577"/>
          <ac:spMkLst>
            <pc:docMk/>
            <pc:sldMk cId="773788289" sldId="296"/>
            <ac:spMk id="6" creationId="{CA83BB80-2E4D-5D8A-8FFB-AA64580343F9}"/>
          </ac:spMkLst>
        </pc:spChg>
      </pc:sldChg>
      <pc:sldChg chg="modSp mod">
        <pc:chgData name="惠心 簡" userId="7494a85472f25f00" providerId="LiveId" clId="{4151118C-67CD-42CB-A947-F50F90C04C80}" dt="2025-11-24T03:10:05.277" v="7" actId="27636"/>
        <pc:sldMkLst>
          <pc:docMk/>
          <pc:sldMk cId="1508381609" sldId="309"/>
        </pc:sldMkLst>
        <pc:spChg chg="mod">
          <ac:chgData name="惠心 簡" userId="7494a85472f25f00" providerId="LiveId" clId="{4151118C-67CD-42CB-A947-F50F90C04C80}" dt="2025-11-24T03:10:05.277" v="7" actId="27636"/>
          <ac:spMkLst>
            <pc:docMk/>
            <pc:sldMk cId="1508381609" sldId="309"/>
            <ac:spMk id="3" creationId="{801ECED5-B1A4-272F-8BBC-01027D7E7A84}"/>
          </ac:spMkLst>
        </pc:spChg>
      </pc:sldChg>
      <pc:sldChg chg="modSp">
        <pc:chgData name="惠心 簡" userId="7494a85472f25f00" providerId="LiveId" clId="{4151118C-67CD-42CB-A947-F50F90C04C80}" dt="2025-11-24T03:10:04.569" v="3"/>
        <pc:sldMkLst>
          <pc:docMk/>
          <pc:sldMk cId="1707635147" sldId="317"/>
        </pc:sldMkLst>
        <pc:spChg chg="mod">
          <ac:chgData name="惠心 簡" userId="7494a85472f25f00" providerId="LiveId" clId="{4151118C-67CD-42CB-A947-F50F90C04C80}" dt="2025-11-24T03:10:04.569" v="3"/>
          <ac:spMkLst>
            <pc:docMk/>
            <pc:sldMk cId="1707635147" sldId="317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790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67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09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114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760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761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823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46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051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598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592715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1594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04937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0613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953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491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199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telRealSense/librealsense/releases/tag/v2.54.1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CB7E1A-8C64-46EF-9912-CB2C524061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TW" altLang="zh-TW" dirty="0"/>
              <a:t>DSP LAB</a:t>
            </a:r>
            <a:r>
              <a:rPr lang="en-US" altLang="zh-TW" dirty="0"/>
              <a:t>4</a:t>
            </a:r>
            <a:br>
              <a:rPr lang="en-US" altLang="zh-TW" dirty="0"/>
            </a:br>
            <a:r>
              <a:rPr lang="zh-TW" altLang="en-US" sz="4800" dirty="0">
                <a:solidFill>
                  <a:srgbClr val="2E75B6"/>
                </a:solidFill>
                <a:latin typeface="+mn-ea"/>
              </a:rPr>
              <a:t>光達實驗</a:t>
            </a:r>
            <a:endParaRPr lang="zh-TW" altLang="en-US" sz="4800" dirty="0"/>
          </a:p>
        </p:txBody>
      </p:sp>
    </p:spTree>
    <p:extLst>
      <p:ext uri="{BB962C8B-B14F-4D97-AF65-F5344CB8AC3E}">
        <p14:creationId xmlns:p14="http://schemas.microsoft.com/office/powerpoint/2010/main" val="3388404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717FFC-C704-43BC-869F-ADCB328A3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sz="4000" dirty="0"/>
              <a:t>實驗</a:t>
            </a:r>
            <a:r>
              <a:rPr lang="zh-TW" altLang="en-US" sz="4000" dirty="0">
                <a:solidFill>
                  <a:srgbClr val="2E75B6"/>
                </a:solidFill>
              </a:rPr>
              <a:t>目的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96D19E-2F38-4101-8C0F-60054C90E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14945"/>
            <a:ext cx="8596668" cy="4226417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>
                <a:latin typeface="Century Gothic" panose="020B0502020202020204" pitchFamily="34" charset="0"/>
              </a:rPr>
              <a:t>●</a:t>
            </a:r>
            <a:r>
              <a:rPr lang="zh-TW" altLang="en-US" dirty="0"/>
              <a:t>了解</a:t>
            </a:r>
            <a:r>
              <a:rPr lang="en-US" altLang="zh-TW" dirty="0">
                <a:latin typeface="+mn-ea"/>
              </a:rPr>
              <a:t>LiDAR</a:t>
            </a:r>
            <a:r>
              <a:rPr lang="zh-TW" altLang="en-US" dirty="0">
                <a:latin typeface="+mn-ea"/>
              </a:rPr>
              <a:t>的測距原理，並能正確處理與解讀</a:t>
            </a:r>
            <a:r>
              <a:rPr lang="en-US" altLang="zh-TW" dirty="0">
                <a:latin typeface="+mn-ea"/>
              </a:rPr>
              <a:t>LiDAR</a:t>
            </a:r>
            <a:r>
              <a:rPr lang="zh-TW" altLang="en-US" dirty="0"/>
              <a:t>得到的資訊</a:t>
            </a:r>
            <a:r>
              <a:rPr lang="zh-TW" altLang="en-US" dirty="0">
                <a:latin typeface="+mn-ea"/>
              </a:rPr>
              <a:t>。</a:t>
            </a:r>
            <a:endParaRPr lang="en-US" altLang="zh-TW" sz="1800" dirty="0">
              <a:latin typeface="+mn-ea"/>
            </a:endParaRPr>
          </a:p>
          <a:p>
            <a:pPr marL="0" indent="0">
              <a:buNone/>
            </a:pPr>
            <a:r>
              <a:rPr lang="zh-TW" altLang="en-US" dirty="0">
                <a:latin typeface="Century Gothic" panose="020B0502020202020204" pitchFamily="34" charset="0"/>
              </a:rPr>
              <a:t>●使用</a:t>
            </a:r>
            <a:r>
              <a:rPr lang="zh-TW" altLang="en-US" dirty="0"/>
              <a:t>不同估測方法，學習在雜訊存在時如何提升估測準確度與穩定性。</a:t>
            </a:r>
            <a:endParaRPr lang="en-US" altLang="zh-TW" sz="1800" dirty="0"/>
          </a:p>
          <a:p>
            <a:pPr marL="0" indent="0">
              <a:buNone/>
            </a:pPr>
            <a:r>
              <a:rPr lang="zh-TW" altLang="en-US" dirty="0">
                <a:latin typeface="Century Gothic" panose="020B0502020202020204" pitchFamily="34" charset="0"/>
              </a:rPr>
              <a:t>●</a:t>
            </a:r>
            <a:r>
              <a:rPr lang="zh-TW" altLang="en-US" dirty="0"/>
              <a:t>實作深度圖形的處理與視覺化應用。</a:t>
            </a:r>
            <a:endParaRPr lang="zh-TW" altLang="en-US" sz="180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06148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F4C706-8DBE-4C94-B466-569CCB38C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74700"/>
          </a:xfrm>
        </p:spPr>
        <p:txBody>
          <a:bodyPr>
            <a:normAutofit/>
          </a:bodyPr>
          <a:lstStyle/>
          <a:p>
            <a:r>
              <a:rPr lang="zh-TW" altLang="en-US" sz="4000" dirty="0"/>
              <a:t>實驗內容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2857F5-A78A-4F62-B966-E161361CB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7501"/>
            <a:ext cx="9368366" cy="22478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000" dirty="0"/>
              <a:t>Part</a:t>
            </a:r>
            <a:r>
              <a:rPr lang="zh-TW" altLang="en-US" sz="2000" dirty="0"/>
              <a:t> </a:t>
            </a:r>
            <a:r>
              <a:rPr lang="en-US" altLang="zh-TW" sz="2000" dirty="0"/>
              <a:t>1:</a:t>
            </a:r>
            <a:r>
              <a:rPr lang="zh-TW" altLang="en-US" sz="2000" dirty="0"/>
              <a:t>用提供的資料製作</a:t>
            </a:r>
            <a:r>
              <a:rPr lang="en-US" altLang="zh-TW" sz="2000" dirty="0"/>
              <a:t>histogram</a:t>
            </a:r>
            <a:r>
              <a:rPr lang="zh-TW" altLang="en-US" sz="2000" dirty="0"/>
              <a:t>，並且直接找出目標的距離</a:t>
            </a:r>
            <a:endParaRPr lang="en-US" altLang="zh-TW" sz="2000" dirty="0"/>
          </a:p>
          <a:p>
            <a:pPr marL="0" indent="0">
              <a:buNone/>
            </a:pPr>
            <a:r>
              <a:rPr lang="en-US" altLang="zh-TW" sz="2000" dirty="0"/>
              <a:t>Part</a:t>
            </a:r>
            <a:r>
              <a:rPr lang="zh-TW" altLang="en-US" sz="2000" dirty="0"/>
              <a:t> </a:t>
            </a:r>
            <a:r>
              <a:rPr lang="en-US" altLang="zh-TW" sz="2000" dirty="0"/>
              <a:t>2:</a:t>
            </a:r>
            <a:r>
              <a:rPr lang="zh-TW" altLang="en-US" sz="2000" dirty="0"/>
              <a:t>用提供的資料來製作</a:t>
            </a:r>
            <a:r>
              <a:rPr lang="en-US" altLang="zh-TW" sz="2000" dirty="0"/>
              <a:t>histogram</a:t>
            </a:r>
            <a:r>
              <a:rPr lang="zh-TW" altLang="en-US" sz="2000" dirty="0"/>
              <a:t>，並且利用</a:t>
            </a:r>
            <a:r>
              <a:rPr lang="en-US" altLang="zh-TW" sz="2000" dirty="0"/>
              <a:t>window</a:t>
            </a:r>
            <a:r>
              <a:rPr lang="zh-TW" altLang="en-US" sz="2000" dirty="0"/>
              <a:t>加上取質心的方式來找  目標的距離</a:t>
            </a:r>
            <a:endParaRPr lang="en-US" altLang="zh-TW" sz="2000" dirty="0"/>
          </a:p>
          <a:p>
            <a:pPr marL="0" indent="0">
              <a:buNone/>
            </a:pPr>
            <a:r>
              <a:rPr lang="en-US" altLang="zh-TW" sz="2000" dirty="0"/>
              <a:t>Part 3:</a:t>
            </a:r>
            <a:r>
              <a:rPr lang="zh-TW" altLang="en-US" sz="2000" dirty="0"/>
              <a:t>製作邊緣圖，找出物體輪廓</a:t>
            </a:r>
            <a:endParaRPr lang="en-US" altLang="zh-TW" sz="2000" dirty="0"/>
          </a:p>
          <a:p>
            <a:pPr marL="0" indent="0">
              <a:buNone/>
            </a:pPr>
            <a:r>
              <a:rPr lang="en-US" altLang="zh-TW" sz="2000" dirty="0"/>
              <a:t>Part 4:</a:t>
            </a:r>
            <a:r>
              <a:rPr lang="zh-TW" altLang="en-US" sz="2000" dirty="0"/>
              <a:t>合併圖片，做出不同角度看的效果</a:t>
            </a:r>
          </a:p>
        </p:txBody>
      </p:sp>
    </p:spTree>
    <p:extLst>
      <p:ext uri="{BB962C8B-B14F-4D97-AF65-F5344CB8AC3E}">
        <p14:creationId xmlns:p14="http://schemas.microsoft.com/office/powerpoint/2010/main" val="3153171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400" b="1" dirty="0"/>
              <a:t>Part 1:</a:t>
            </a:r>
            <a:r>
              <a:rPr lang="zh-TW" altLang="en-US" sz="4400" b="1" dirty="0"/>
              <a:t>製作出</a:t>
            </a:r>
            <a:r>
              <a:rPr lang="en-US" altLang="zh-TW" sz="4400" b="1" dirty="0"/>
              <a:t>histogram</a:t>
            </a:r>
            <a:endParaRPr lang="zh-TW" alt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403292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B72C46-9966-4324-B7C4-4A50D7C52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光達</a:t>
            </a:r>
            <a:r>
              <a:rPr lang="en-US" altLang="zh-TW" sz="4000" dirty="0"/>
              <a:t>(LiDAR)</a:t>
            </a:r>
            <a:r>
              <a:rPr lang="zh-TW" altLang="en-US" sz="4000" dirty="0"/>
              <a:t>測距原理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20A051-93DA-49F1-B48A-070611514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1001"/>
            <a:ext cx="8758766" cy="3835399"/>
          </a:xfrm>
        </p:spPr>
        <p:txBody>
          <a:bodyPr/>
          <a:lstStyle/>
          <a:p>
            <a:pPr marL="0" indent="0">
              <a:buNone/>
            </a:pPr>
            <a:r>
              <a:rPr lang="zh-TW" altLang="en-US" sz="2000" dirty="0">
                <a:latin typeface="Century Gothic" panose="020B0502020202020204" pitchFamily="34" charset="0"/>
              </a:rPr>
              <a:t>●</a:t>
            </a:r>
            <a:r>
              <a:rPr lang="zh-TW" altLang="en-US" sz="2000" dirty="0"/>
              <a:t>資料說明</a:t>
            </a:r>
            <a:r>
              <a:rPr lang="en-US" altLang="zh-TW" sz="2000" dirty="0"/>
              <a:t>:</a:t>
            </a:r>
          </a:p>
          <a:p>
            <a:pPr marL="0" indent="0">
              <a:buNone/>
            </a:pPr>
            <a:r>
              <a:rPr lang="en-US" altLang="zh-TW" sz="2000" dirty="0"/>
              <a:t>(1) part1_emit_times_ps</a:t>
            </a:r>
            <a:r>
              <a:rPr lang="zh-TW" altLang="en-US" sz="2000" dirty="0"/>
              <a:t> 發射時間</a:t>
            </a:r>
            <a:r>
              <a:rPr lang="en-US" altLang="zh-TW" sz="2000" dirty="0"/>
              <a:t>(</a:t>
            </a:r>
            <a:r>
              <a:rPr lang="zh-TW" altLang="en-US" sz="2000" dirty="0"/>
              <a:t>單位</a:t>
            </a:r>
            <a:r>
              <a:rPr lang="en-US" altLang="zh-TW" sz="2000" dirty="0"/>
              <a:t>:100ps)</a:t>
            </a:r>
          </a:p>
          <a:p>
            <a:pPr marL="0" indent="0">
              <a:buNone/>
            </a:pPr>
            <a:r>
              <a:rPr lang="en-US" altLang="zh-TW" sz="2000" dirty="0"/>
              <a:t>(2) part1_receive_times_ps </a:t>
            </a:r>
            <a:r>
              <a:rPr lang="zh-TW" altLang="en-US" sz="2000" dirty="0"/>
              <a:t>接收訊號時間</a:t>
            </a:r>
            <a:r>
              <a:rPr lang="en-US" altLang="zh-TW" sz="2000" dirty="0"/>
              <a:t>(</a:t>
            </a:r>
            <a:r>
              <a:rPr lang="zh-TW" altLang="en-US" sz="2000" dirty="0"/>
              <a:t>單位</a:t>
            </a:r>
            <a:r>
              <a:rPr lang="en-US" altLang="zh-TW" sz="2000" dirty="0"/>
              <a:t>:100ps)</a:t>
            </a:r>
          </a:p>
          <a:p>
            <a:pPr marL="0" indent="0">
              <a:buNone/>
            </a:pPr>
            <a:endParaRPr lang="en-US" altLang="zh-TW" sz="20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zh-TW" altLang="en-US" sz="2000" dirty="0">
                <a:latin typeface="Century Gothic" panose="020B0502020202020204" pitchFamily="34" charset="0"/>
              </a:rPr>
              <a:t>●原理</a:t>
            </a:r>
            <a:r>
              <a:rPr lang="en-US" altLang="zh-TW" sz="2000" dirty="0">
                <a:latin typeface="Century Gothic" panose="020B0502020202020204" pitchFamily="34" charset="0"/>
              </a:rPr>
              <a:t>:</a:t>
            </a:r>
            <a:r>
              <a:rPr lang="zh-TW" altLang="en-US" sz="2000" dirty="0"/>
              <a:t>透過光達的發射與接收時間差</a:t>
            </a:r>
            <a:r>
              <a:rPr lang="en-US" altLang="zh-TW" sz="2000" dirty="0" err="1"/>
              <a:t>Δt</a:t>
            </a:r>
            <a:r>
              <a:rPr lang="en-US" altLang="zh-TW" sz="2000" dirty="0"/>
              <a:t> (time difference)</a:t>
            </a:r>
            <a:r>
              <a:rPr lang="zh-TW" altLang="en-US" sz="2000" dirty="0"/>
              <a:t>與光速</a:t>
            </a:r>
            <a:r>
              <a:rPr lang="en-US" altLang="zh-TW" sz="2000" dirty="0"/>
              <a:t>c</a:t>
            </a:r>
            <a:r>
              <a:rPr lang="zh-TW" altLang="en-US" sz="2000" dirty="0"/>
              <a:t>，推算出</a:t>
            </a:r>
            <a:r>
              <a:rPr lang="en-US" altLang="zh-TW" sz="2000" dirty="0"/>
              <a:t>         </a:t>
            </a:r>
          </a:p>
          <a:p>
            <a:pPr marL="0" indent="0">
              <a:buNone/>
            </a:pPr>
            <a:r>
              <a:rPr lang="zh-TW" altLang="en-US" sz="2000" dirty="0"/>
              <a:t>物體的距離</a:t>
            </a:r>
            <a:endParaRPr lang="en-US" altLang="zh-TW" sz="2000" dirty="0"/>
          </a:p>
          <a:p>
            <a:pPr marL="0" indent="0">
              <a:buNone/>
            </a:pPr>
            <a:endParaRPr lang="en-US" altLang="zh-TW" sz="20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/>
          <a:srcRect l="2433" t="14419" r="-2096"/>
          <a:stretch/>
        </p:blipFill>
        <p:spPr>
          <a:xfrm>
            <a:off x="3767426" y="4102099"/>
            <a:ext cx="2416483" cy="1126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551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0B8B72-C28D-426C-BB2A-C0874A7A0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3589866" cy="711200"/>
          </a:xfrm>
        </p:spPr>
        <p:txBody>
          <a:bodyPr>
            <a:normAutofit/>
          </a:bodyPr>
          <a:lstStyle/>
          <a:p>
            <a:r>
              <a:rPr lang="zh-TW" altLang="en-US" sz="4000" dirty="0"/>
              <a:t>有可能的情況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86F7E2-0480-4906-82AA-63D90E9BD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49401"/>
            <a:ext cx="8596668" cy="4491962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000" dirty="0"/>
              <a:t>(1)</a:t>
            </a:r>
            <a:r>
              <a:rPr lang="zh-TW" altLang="en-US" sz="2000" dirty="0"/>
              <a:t>接收到</a:t>
            </a:r>
            <a:r>
              <a:rPr lang="en-US" altLang="zh-TW" sz="2000" dirty="0"/>
              <a:t>1</a:t>
            </a:r>
            <a:r>
              <a:rPr lang="zh-TW" altLang="en-US" sz="2000" dirty="0"/>
              <a:t>個光子</a:t>
            </a:r>
            <a:r>
              <a:rPr lang="en-US" altLang="zh-TW" sz="2000" dirty="0"/>
              <a:t>→</a:t>
            </a:r>
            <a:r>
              <a:rPr lang="zh-TW" altLang="en-US" sz="2000" dirty="0"/>
              <a:t>直接計算時間差</a:t>
            </a:r>
            <a:endParaRPr lang="en-US" altLang="zh-TW" sz="2000" dirty="0"/>
          </a:p>
          <a:p>
            <a:pPr marL="0" indent="0">
              <a:buNone/>
            </a:pPr>
            <a:r>
              <a:rPr lang="en-US" altLang="zh-TW" sz="2000" dirty="0"/>
              <a:t>(2)</a:t>
            </a:r>
            <a:r>
              <a:rPr lang="zh-TW" altLang="en-US" sz="2000" dirty="0"/>
              <a:t>沒有接收到光子</a:t>
            </a:r>
            <a:r>
              <a:rPr lang="en-US" altLang="zh-TW" sz="2000" dirty="0"/>
              <a:t>→</a:t>
            </a:r>
            <a:r>
              <a:rPr lang="zh-TW" altLang="en-US" sz="2000" dirty="0"/>
              <a:t>結果無效</a:t>
            </a:r>
            <a:r>
              <a:rPr lang="en-US" altLang="zh-TW" sz="2000" dirty="0"/>
              <a:t>(</a:t>
            </a:r>
            <a:r>
              <a:rPr lang="zh-TW" altLang="en-US" sz="2000" dirty="0"/>
              <a:t>距離不可估</a:t>
            </a:r>
            <a:r>
              <a:rPr lang="en-US" altLang="zh-TW" sz="2000" dirty="0"/>
              <a:t>)</a:t>
            </a:r>
          </a:p>
          <a:p>
            <a:pPr marL="0" indent="0">
              <a:buNone/>
            </a:pPr>
            <a:r>
              <a:rPr lang="en-US" altLang="zh-TW" sz="2000" dirty="0"/>
              <a:t>(3)</a:t>
            </a:r>
            <a:r>
              <a:rPr lang="zh-TW" altLang="en-US" sz="2000" dirty="0"/>
              <a:t>接收到好幾個光子</a:t>
            </a:r>
            <a:r>
              <a:rPr lang="en-US" altLang="zh-TW" sz="2000" dirty="0"/>
              <a:t>→</a:t>
            </a:r>
            <a:r>
              <a:rPr lang="zh-TW" altLang="en-US" sz="2000" dirty="0"/>
              <a:t>取最早抵達的光子計算時間差</a:t>
            </a:r>
            <a:endParaRPr lang="en-US" altLang="zh-TW" sz="2000" dirty="0"/>
          </a:p>
          <a:p>
            <a:pPr marL="0" indent="0">
              <a:buNone/>
            </a:pPr>
            <a:endParaRPr lang="en-US" altLang="zh-TW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186" y="3070077"/>
            <a:ext cx="5565566" cy="2568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656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75CBB0-4ADB-C0AA-1808-05746DD3A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4961466" cy="774700"/>
          </a:xfrm>
        </p:spPr>
        <p:txBody>
          <a:bodyPr>
            <a:noAutofit/>
          </a:bodyPr>
          <a:lstStyle/>
          <a:p>
            <a:r>
              <a:rPr lang="zh-TW" altLang="en-US" sz="4000" dirty="0"/>
              <a:t>建立</a:t>
            </a:r>
            <a:r>
              <a:rPr lang="en-US" altLang="zh-TW" sz="4000" dirty="0"/>
              <a:t>histogram</a:t>
            </a:r>
            <a:r>
              <a:rPr lang="zh-TW" altLang="en-US" sz="4000" dirty="0"/>
              <a:t>說明</a:t>
            </a:r>
          </a:p>
        </p:txBody>
      </p:sp>
      <p:sp>
        <p:nvSpPr>
          <p:cNvPr id="7" name="矩形 6"/>
          <p:cNvSpPr/>
          <p:nvPr/>
        </p:nvSpPr>
        <p:spPr>
          <a:xfrm>
            <a:off x="677334" y="1452648"/>
            <a:ext cx="8416244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dirty="0">
                <a:latin typeface="Century Gothic" panose="020B0502020202020204" pitchFamily="34" charset="0"/>
              </a:rPr>
              <a:t>● </a:t>
            </a:r>
            <a:r>
              <a:rPr lang="en-US" altLang="zh-TW" sz="2000" dirty="0"/>
              <a:t>histogram</a:t>
            </a:r>
            <a:r>
              <a:rPr lang="zh-TW" altLang="en-US" sz="2000" dirty="0"/>
              <a:t>至少分成</a:t>
            </a:r>
            <a:r>
              <a:rPr lang="en-US" altLang="zh-TW" sz="2000" dirty="0"/>
              <a:t>500</a:t>
            </a:r>
            <a:r>
              <a:rPr lang="zh-TW" altLang="en-US" sz="2000" dirty="0"/>
              <a:t>個時間區間</a:t>
            </a:r>
            <a:r>
              <a:rPr lang="en-US" altLang="zh-TW" sz="2000" dirty="0"/>
              <a:t>(time bin)</a:t>
            </a:r>
            <a:r>
              <a:rPr lang="zh-TW" altLang="en-US" sz="2000" dirty="0"/>
              <a:t>，把發射與接收的時間差分佈在</a:t>
            </a:r>
            <a:r>
              <a:rPr lang="en-US" altLang="zh-TW" sz="2000" dirty="0"/>
              <a:t>0~1250</a:t>
            </a:r>
            <a:r>
              <a:rPr lang="zh-TW" altLang="en-US" sz="2000" dirty="0"/>
              <a:t>之間 </a:t>
            </a:r>
            <a:r>
              <a:rPr lang="en-US" altLang="zh-TW" sz="2000" dirty="0"/>
              <a:t>(</a:t>
            </a:r>
            <a:r>
              <a:rPr lang="zh-TW" altLang="en-US" sz="2000" dirty="0"/>
              <a:t>單位</a:t>
            </a:r>
            <a:r>
              <a:rPr lang="en-US" altLang="zh-TW" sz="2000" dirty="0"/>
              <a:t>:100ps)</a:t>
            </a:r>
          </a:p>
          <a:p>
            <a:r>
              <a:rPr lang="zh-TW" altLang="en-US" sz="2000" dirty="0">
                <a:latin typeface="Century Gothic" panose="020B0502020202020204" pitchFamily="34" charset="0"/>
              </a:rPr>
              <a:t>●</a:t>
            </a:r>
            <a:r>
              <a:rPr lang="zh-TW" altLang="en-US" sz="2000" dirty="0"/>
              <a:t>從得到的</a:t>
            </a:r>
            <a:r>
              <a:rPr lang="en-US" altLang="zh-TW" sz="2000" dirty="0"/>
              <a:t>histogram</a:t>
            </a:r>
            <a:r>
              <a:rPr lang="zh-TW" altLang="en-US" sz="2000" dirty="0"/>
              <a:t>，找一個</a:t>
            </a:r>
            <a:r>
              <a:rPr lang="en-US" altLang="zh-TW" sz="2000" dirty="0"/>
              <a:t>count</a:t>
            </a:r>
            <a:r>
              <a:rPr lang="zh-TW" altLang="en-US" sz="2000" dirty="0"/>
              <a:t>數最高的位置當作答案，並估計物體所在距離</a:t>
            </a:r>
            <a:endParaRPr lang="en-US" altLang="zh-TW" sz="2000" dirty="0"/>
          </a:p>
          <a:p>
            <a:endParaRPr lang="en-US" altLang="zh-TW" sz="2000" dirty="0">
              <a:latin typeface="Century Gothic" panose="020B0502020202020204" pitchFamily="34" charset="0"/>
            </a:endParaRPr>
          </a:p>
          <a:p>
            <a:r>
              <a:rPr lang="zh-TW" altLang="en-US" sz="2000" dirty="0">
                <a:latin typeface="Century Gothic" panose="020B0502020202020204" pitchFamily="34" charset="0"/>
              </a:rPr>
              <a:t>●以下為參考完成圖</a:t>
            </a:r>
            <a:r>
              <a:rPr lang="zh-TW" altLang="en-US" sz="2000" dirty="0"/>
              <a:t>，峰值大約在</a:t>
            </a:r>
            <a:r>
              <a:rPr lang="en-US" altLang="zh-TW" sz="2000" dirty="0"/>
              <a:t>14-16m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/>
          <a:srcRect l="5916" t="2926" r="2789"/>
          <a:stretch/>
        </p:blipFill>
        <p:spPr>
          <a:xfrm>
            <a:off x="1309991" y="3555252"/>
            <a:ext cx="7783587" cy="271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590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400" b="1" dirty="0"/>
              <a:t>Part 2:Window+</a:t>
            </a:r>
            <a:r>
              <a:rPr lang="zh-TW" altLang="en-US" sz="4400" b="1" dirty="0"/>
              <a:t>取質心</a:t>
            </a:r>
          </a:p>
        </p:txBody>
      </p:sp>
    </p:spTree>
    <p:extLst>
      <p:ext uri="{BB962C8B-B14F-4D97-AF65-F5344CB8AC3E}">
        <p14:creationId xmlns:p14="http://schemas.microsoft.com/office/powerpoint/2010/main" val="1707635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E37E17-7EEE-4259-8F61-95E49D83B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/>
              <a:t>Window+</a:t>
            </a:r>
            <a:r>
              <a:rPr lang="zh-TW" altLang="en-US" sz="4000" dirty="0"/>
              <a:t>取質心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6393A4A1-D07C-43C3-90B4-FE8676D2C6F8}"/>
                  </a:ext>
                </a:extLst>
              </p:cNvPr>
              <p:cNvSpPr txBox="1"/>
              <p:nvPr/>
            </p:nvSpPr>
            <p:spPr>
              <a:xfrm>
                <a:off x="157849" y="1369998"/>
                <a:ext cx="5387340" cy="1794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TW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       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sz="2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zh-TW" altLang="zh-TW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TW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TW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limLoc m:val="subSup"/>
                            <m:ctrlPr>
                              <a:rPr lang="zh-TW" altLang="zh-TW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TW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en-US" altLang="zh-TW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r>
                  <a:rPr lang="en-US" altLang="zh-TW" dirty="0">
                    <a:cs typeface="Arial" panose="020B0604020202020204" pitchFamily="34" charset="0"/>
                  </a:rPr>
                  <a:t>n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TW" b="0" i="0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TW" b="0" i="0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th</m:t>
                        </m:r>
                      </m:sup>
                    </m:sSup>
                    <m:r>
                      <a:rPr lang="zh-TW" altLang="en-US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altLang="zh-TW" dirty="0">
                    <a:cs typeface="Arial" panose="020B0604020202020204" pitchFamily="34" charset="0"/>
                  </a:rPr>
                  <a:t>window</a:t>
                </a:r>
              </a:p>
              <a:p>
                <a:pPr lvl="1"/>
                <a:r>
                  <a:rPr lang="en-US" altLang="zh-TW" dirty="0">
                    <a:cs typeface="Arial" panose="020B0604020202020204" pitchFamily="34" charset="0"/>
                  </a:rPr>
                  <a:t>m: number of time bin in each CM window</a:t>
                </a: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6393A4A1-D07C-43C3-90B4-FE8676D2C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" y="1369998"/>
                <a:ext cx="5387340" cy="1794658"/>
              </a:xfrm>
              <a:prstGeom prst="rect">
                <a:avLst/>
              </a:prstGeom>
              <a:blipFill>
                <a:blip r:embed="rId2"/>
                <a:stretch>
                  <a:fillRect b="-44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2B7BEB48-A74A-4E83-9AA4-FD6C83B4EE43}"/>
              </a:ext>
            </a:extLst>
          </p:cNvPr>
          <p:cNvSpPr txBox="1"/>
          <p:nvPr/>
        </p:nvSpPr>
        <p:spPr>
          <a:xfrm>
            <a:off x="421700" y="3457902"/>
            <a:ext cx="48596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/>
              <a:t>寫迴圈把整個</a:t>
            </a:r>
            <a:r>
              <a:rPr lang="en-US" altLang="zh-TW" sz="2000" dirty="0"/>
              <a:t>histogram</a:t>
            </a:r>
            <a:r>
              <a:rPr lang="zh-TW" altLang="en-US" sz="2000" dirty="0"/>
              <a:t>都掃過</a:t>
            </a:r>
            <a:endParaRPr lang="en-US" altLang="zh-TW" sz="2000" dirty="0"/>
          </a:p>
          <a:p>
            <a:r>
              <a:rPr lang="zh-TW" altLang="en-US" sz="2000" dirty="0"/>
              <a:t>每次</a:t>
            </a:r>
            <a:r>
              <a:rPr lang="en-US" altLang="zh-TW" sz="2000" dirty="0"/>
              <a:t>window</a:t>
            </a:r>
            <a:r>
              <a:rPr lang="zh-TW" altLang="en-US" sz="2000" dirty="0"/>
              <a:t>移動一格。對每個</a:t>
            </a:r>
            <a:r>
              <a:rPr lang="en-US" altLang="zh-TW" sz="2000" dirty="0"/>
              <a:t>window</a:t>
            </a:r>
          </a:p>
          <a:p>
            <a:r>
              <a:rPr lang="zh-TW" altLang="en-US" sz="2000" dirty="0"/>
              <a:t>都取質心，最後答案為總</a:t>
            </a:r>
            <a:r>
              <a:rPr lang="en-US" altLang="zh-TW" sz="2000" dirty="0"/>
              <a:t>count</a:t>
            </a:r>
            <a:r>
              <a:rPr lang="zh-TW" altLang="en-US" sz="2000" dirty="0"/>
              <a:t>數最多的</a:t>
            </a:r>
            <a:endParaRPr lang="en-US" altLang="zh-TW" sz="2000" dirty="0"/>
          </a:p>
          <a:p>
            <a:r>
              <a:rPr lang="en-US" altLang="zh-TW" sz="2000" dirty="0"/>
              <a:t>window</a:t>
            </a:r>
            <a:r>
              <a:rPr lang="zh-TW" altLang="en-US" sz="2000" dirty="0"/>
              <a:t>得到的質心。</a:t>
            </a:r>
            <a:endParaRPr lang="en-US" altLang="zh-TW" sz="2000" dirty="0"/>
          </a:p>
          <a:p>
            <a:endParaRPr lang="en-US" altLang="zh-TW" sz="2000" dirty="0"/>
          </a:p>
          <a:p>
            <a:r>
              <a:rPr lang="zh-TW" altLang="en-US" sz="2000" dirty="0"/>
              <a:t>找出峰值並估計物體所在距離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1608B6AA-EDCB-4E51-9BE5-CE92A1522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482" y="1270000"/>
            <a:ext cx="5825135" cy="3844589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E46399FE-3671-4653-8405-286BC2318F49}"/>
              </a:ext>
            </a:extLst>
          </p:cNvPr>
          <p:cNvSpPr/>
          <p:nvPr/>
        </p:nvSpPr>
        <p:spPr>
          <a:xfrm>
            <a:off x="5937111" y="1666430"/>
            <a:ext cx="981075" cy="3378475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77613D9-FA3E-406F-8486-FDC5AFF3F5AF}"/>
              </a:ext>
            </a:extLst>
          </p:cNvPr>
          <p:cNvSpPr txBox="1"/>
          <p:nvPr/>
        </p:nvSpPr>
        <p:spPr>
          <a:xfrm>
            <a:off x="5281339" y="1169943"/>
            <a:ext cx="2161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window</a:t>
            </a:r>
            <a:endParaRPr lang="zh-TW" altLang="en-US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518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22222E-6 L 0.35573 -0.00023 " pathEditMode="relative" rAng="0" ptsTypes="AA">
                                      <p:cBhvr>
                                        <p:cTn id="6" dur="1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86" y="-2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A091C3-294A-4164-A5EC-169931B98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dirty="0"/>
              <a:t>建立</a:t>
            </a:r>
            <a:r>
              <a:rPr lang="en-US" altLang="zh-TW" sz="4000" dirty="0"/>
              <a:t>histogram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8A45EF-2C1F-4E89-8D63-26A6AA65C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62101"/>
            <a:ext cx="8596668" cy="4479262"/>
          </a:xfrm>
        </p:spPr>
        <p:txBody>
          <a:bodyPr/>
          <a:lstStyle/>
          <a:p>
            <a:pPr marL="0" indent="0">
              <a:buNone/>
            </a:pPr>
            <a:r>
              <a:rPr lang="zh-TW" altLang="en-US" sz="2000" dirty="0">
                <a:latin typeface="Century Gothic" panose="020B0502020202020204" pitchFamily="34" charset="0"/>
              </a:rPr>
              <a:t>●</a:t>
            </a:r>
            <a:r>
              <a:rPr lang="zh-TW" altLang="en-US" sz="2000" dirty="0"/>
              <a:t>同實驗一，</a:t>
            </a:r>
            <a:r>
              <a:rPr lang="en-US" altLang="zh-TW" sz="2000" dirty="0"/>
              <a:t>histogram</a:t>
            </a:r>
            <a:r>
              <a:rPr lang="zh-TW" altLang="en-US" sz="2000" dirty="0"/>
              <a:t>至少分成</a:t>
            </a:r>
            <a:r>
              <a:rPr lang="en-US" altLang="zh-TW" sz="2000" dirty="0"/>
              <a:t>500</a:t>
            </a:r>
            <a:r>
              <a:rPr lang="zh-TW" altLang="en-US" sz="2000" dirty="0"/>
              <a:t>個時間區間</a:t>
            </a:r>
            <a:r>
              <a:rPr lang="en-US" altLang="zh-TW" sz="2000" dirty="0"/>
              <a:t>(time bin)</a:t>
            </a:r>
            <a:r>
              <a:rPr lang="zh-TW" altLang="en-US" sz="2000" dirty="0"/>
              <a:t>，把收到訊號的時間分佈在</a:t>
            </a:r>
            <a:r>
              <a:rPr lang="en-US" altLang="zh-TW" sz="2000" dirty="0"/>
              <a:t>0~1250</a:t>
            </a:r>
            <a:r>
              <a:rPr lang="zh-TW" altLang="en-US" sz="2000" dirty="0"/>
              <a:t>之間 </a:t>
            </a:r>
            <a:r>
              <a:rPr lang="en-US" altLang="zh-TW" sz="2000" dirty="0"/>
              <a:t>(</a:t>
            </a:r>
            <a:r>
              <a:rPr lang="zh-TW" altLang="en-US" sz="2000" dirty="0"/>
              <a:t>單位</a:t>
            </a:r>
            <a:r>
              <a:rPr lang="en-US" altLang="zh-TW" sz="2000" dirty="0"/>
              <a:t>:100ps)</a:t>
            </a:r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r>
              <a:rPr lang="zh-TW" altLang="en-US" sz="2000" dirty="0">
                <a:latin typeface="Century Gothic" panose="020B0502020202020204" pitchFamily="34" charset="0"/>
              </a:rPr>
              <a:t>●以下為參考完成圖</a:t>
            </a:r>
            <a:r>
              <a:rPr lang="zh-TW" altLang="en-US" sz="2000" dirty="0"/>
              <a:t>，峰值大約在</a:t>
            </a:r>
            <a:r>
              <a:rPr lang="en-US" altLang="zh-TW" sz="2000" dirty="0"/>
              <a:t>12-14m</a:t>
            </a:r>
          </a:p>
          <a:p>
            <a:pPr marL="0" indent="0">
              <a:buNone/>
            </a:pPr>
            <a:endParaRPr lang="en-US" altLang="zh-TW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/>
          <a:srcRect r="3256"/>
          <a:stretch/>
        </p:blipFill>
        <p:spPr>
          <a:xfrm>
            <a:off x="1267268" y="3210093"/>
            <a:ext cx="7152832" cy="283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993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0E88F3FE-1BE6-4235-89A0-48831155A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光達使用與資料指引</a:t>
            </a:r>
          </a:p>
        </p:txBody>
      </p:sp>
    </p:spTree>
    <p:extLst>
      <p:ext uri="{BB962C8B-B14F-4D97-AF65-F5344CB8AC3E}">
        <p14:creationId xmlns:p14="http://schemas.microsoft.com/office/powerpoint/2010/main" val="35752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/>
          <p:cNvPicPr>
            <a:picLocks noChangeAspect="1"/>
          </p:cNvPicPr>
          <p:nvPr/>
        </p:nvPicPr>
        <p:blipFill rotWithShape="1">
          <a:blip r:embed="rId2"/>
          <a:srcRect t="4624" b="3892"/>
          <a:stretch/>
        </p:blipFill>
        <p:spPr>
          <a:xfrm>
            <a:off x="2146607" y="3539530"/>
            <a:ext cx="6606324" cy="3004145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0702FE4-866B-C3CB-427E-4DE069B97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3932766" cy="793127"/>
          </a:xfrm>
        </p:spPr>
        <p:txBody>
          <a:bodyPr>
            <a:normAutofit/>
          </a:bodyPr>
          <a:lstStyle/>
          <a:p>
            <a:r>
              <a:rPr lang="zh-TW" altLang="en-US" sz="4000" dirty="0"/>
              <a:t>光達使用指引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1ECED5-B1A4-272F-8BBC-01027D7E7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02727"/>
            <a:ext cx="9076266" cy="20165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●到以下網址</a:t>
            </a:r>
            <a:r>
              <a:rPr lang="zh-TW" altLang="en-US" sz="2000" dirty="0">
                <a:solidFill>
                  <a:schemeClr val="tx1"/>
                </a:solidFill>
              </a:rPr>
              <a:t>安裝應用程式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marL="0" lvl="0" indent="0">
              <a:buNone/>
            </a:pPr>
            <a:r>
              <a:rPr lang="zh-TW" altLang="zh-TW" dirty="0">
                <a:solidFill>
                  <a:srgbClr val="1155CC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https://github.com/IntelRealSense/librealsense/releases/tag/v2.54.1</a:t>
            </a:r>
            <a:r>
              <a:rPr lang="zh-TW" altLang="zh-TW" dirty="0">
                <a:solidFill>
                  <a:schemeClr val="tx1"/>
                </a:solidFill>
              </a:rPr>
              <a:t> </a:t>
            </a:r>
            <a:endParaRPr lang="zh-TW" altLang="zh-TW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zh-TW" altLang="en-US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●</a:t>
            </a:r>
            <a:r>
              <a:rPr lang="zh-TW" altLang="en-US" sz="2000" dirty="0">
                <a:solidFill>
                  <a:schemeClr val="tx1"/>
                </a:solidFill>
              </a:rPr>
              <a:t>接上光達後，開啟</a:t>
            </a:r>
            <a:r>
              <a:rPr lang="en-US" altLang="zh-TW" sz="2000" dirty="0">
                <a:solidFill>
                  <a:schemeClr val="tx1"/>
                </a:solidFill>
              </a:rPr>
              <a:t>RealSense Viewer</a:t>
            </a:r>
            <a:r>
              <a:rPr lang="zh-TW" altLang="en-US" sz="2000" dirty="0">
                <a:solidFill>
                  <a:schemeClr val="tx1"/>
                </a:solidFill>
              </a:rPr>
              <a:t>後進行拍照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TW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F3C36A5-EEF6-0883-C148-615AE0219AB7}"/>
              </a:ext>
            </a:extLst>
          </p:cNvPr>
          <p:cNvSpPr txBox="1"/>
          <p:nvPr/>
        </p:nvSpPr>
        <p:spPr>
          <a:xfrm>
            <a:off x="2189038" y="5409172"/>
            <a:ext cx="1586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開啟深度相機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0D4F760-81AD-0B7C-0CE4-9B4CCDDBAE3E}"/>
              </a:ext>
            </a:extLst>
          </p:cNvPr>
          <p:cNvSpPr txBox="1"/>
          <p:nvPr/>
        </p:nvSpPr>
        <p:spPr>
          <a:xfrm>
            <a:off x="5071237" y="3890606"/>
            <a:ext cx="1413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拍照並存檔</a:t>
            </a: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538" b="5149"/>
          <a:stretch/>
        </p:blipFill>
        <p:spPr>
          <a:xfrm>
            <a:off x="677334" y="2270717"/>
            <a:ext cx="4676792" cy="546416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0102" y="1534362"/>
            <a:ext cx="943107" cy="1238423"/>
          </a:xfrm>
          <a:prstGeom prst="rect">
            <a:avLst/>
          </a:prstGeom>
        </p:spPr>
      </p:pic>
      <p:sp>
        <p:nvSpPr>
          <p:cNvPr id="15" name="橢圓 14"/>
          <p:cNvSpPr/>
          <p:nvPr/>
        </p:nvSpPr>
        <p:spPr>
          <a:xfrm>
            <a:off x="7915708" y="3530152"/>
            <a:ext cx="706582" cy="30641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3453397" y="4661749"/>
            <a:ext cx="321986" cy="29509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5585132" y="4269316"/>
            <a:ext cx="259589" cy="25505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F0D4F760-81AD-0B7C-0CE4-9B4CCDDBAE3E}"/>
              </a:ext>
            </a:extLst>
          </p:cNvPr>
          <p:cNvSpPr txBox="1"/>
          <p:nvPr/>
        </p:nvSpPr>
        <p:spPr>
          <a:xfrm>
            <a:off x="7598674" y="3871571"/>
            <a:ext cx="1154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切換到</a:t>
            </a:r>
            <a:r>
              <a:rPr lang="en-US" altLang="zh-TW" b="1" dirty="0">
                <a:solidFill>
                  <a:srgbClr val="FF0000"/>
                </a:solidFill>
              </a:rPr>
              <a:t>2D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381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702FE4-866B-C3CB-427E-4DE069B97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3564466" cy="812800"/>
          </a:xfrm>
        </p:spPr>
        <p:txBody>
          <a:bodyPr>
            <a:normAutofit fontScale="90000"/>
          </a:bodyPr>
          <a:lstStyle/>
          <a:p>
            <a:r>
              <a:rPr lang="zh-TW" altLang="en-US" sz="4400" dirty="0">
                <a:solidFill>
                  <a:srgbClr val="2E75B6"/>
                </a:solidFill>
              </a:rPr>
              <a:t>檔案說明</a:t>
            </a:r>
            <a:br>
              <a:rPr lang="en-US" altLang="zh-TW" sz="4000" dirty="0">
                <a:solidFill>
                  <a:schemeClr val="tx1"/>
                </a:solidFill>
              </a:rPr>
            </a:br>
            <a:endParaRPr lang="zh-TW" altLang="en-US" sz="4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1ECED5-B1A4-272F-8BBC-01027D7E7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300" y="1422400"/>
            <a:ext cx="9245600" cy="1485900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000" dirty="0">
                <a:solidFill>
                  <a:schemeClr val="tx1"/>
                </a:solidFill>
              </a:rPr>
              <a:t>(1)</a:t>
            </a:r>
            <a:r>
              <a:rPr lang="zh-TW" altLang="en-US" sz="2000" dirty="0">
                <a:solidFill>
                  <a:schemeClr val="tx1"/>
                </a:solidFill>
              </a:rPr>
              <a:t>檔名</a:t>
            </a:r>
            <a:r>
              <a:rPr lang="en-US" altLang="zh-TW" sz="2000" dirty="0">
                <a:solidFill>
                  <a:schemeClr val="tx1"/>
                </a:solidFill>
              </a:rPr>
              <a:t>_Depth.png:</a:t>
            </a:r>
            <a:r>
              <a:rPr lang="zh-TW" altLang="en-US" sz="2000" dirty="0">
                <a:solidFill>
                  <a:schemeClr val="tx1"/>
                </a:solidFill>
              </a:rPr>
              <a:t>幫助檢視深淺變化的可視化圖片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TW" sz="2000" dirty="0">
                <a:solidFill>
                  <a:schemeClr val="tx1"/>
                </a:solidFill>
              </a:rPr>
              <a:t>(2)</a:t>
            </a:r>
            <a:r>
              <a:rPr lang="zh-TW" altLang="en-US" sz="2000" dirty="0">
                <a:solidFill>
                  <a:schemeClr val="tx1"/>
                </a:solidFill>
              </a:rPr>
              <a:t>檔名</a:t>
            </a:r>
            <a:r>
              <a:rPr lang="en-US" altLang="zh-TW" sz="2000" dirty="0">
                <a:solidFill>
                  <a:schemeClr val="tx1"/>
                </a:solidFill>
              </a:rPr>
              <a:t>_</a:t>
            </a:r>
            <a:r>
              <a:rPr lang="en-US" altLang="zh-TW" sz="2000" dirty="0" err="1">
                <a:solidFill>
                  <a:schemeClr val="tx1"/>
                </a:solidFill>
              </a:rPr>
              <a:t>Depth.raw</a:t>
            </a:r>
            <a:r>
              <a:rPr lang="en-US" altLang="zh-TW" sz="2000" dirty="0">
                <a:solidFill>
                  <a:schemeClr val="tx1"/>
                </a:solidFill>
              </a:rPr>
              <a:t>:</a:t>
            </a:r>
            <a:r>
              <a:rPr lang="zh-TW" altLang="en-US" sz="2000" dirty="0">
                <a:solidFill>
                  <a:schemeClr val="tx1"/>
                </a:solidFill>
              </a:rPr>
              <a:t>儲存真正的深度資料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TW" sz="2000" dirty="0">
                <a:solidFill>
                  <a:schemeClr val="tx1"/>
                </a:solidFill>
              </a:rPr>
              <a:t>(3)</a:t>
            </a:r>
            <a:r>
              <a:rPr lang="zh-TW" altLang="en-US" sz="2000" dirty="0">
                <a:solidFill>
                  <a:schemeClr val="tx1"/>
                </a:solidFill>
              </a:rPr>
              <a:t>檔名</a:t>
            </a:r>
            <a:r>
              <a:rPr lang="en-US" altLang="zh-TW" sz="2000" dirty="0">
                <a:solidFill>
                  <a:schemeClr val="tx1"/>
                </a:solidFill>
              </a:rPr>
              <a:t>_Depth_metadata.csv:</a:t>
            </a:r>
            <a:r>
              <a:rPr lang="zh-TW" altLang="en-US" sz="2000" dirty="0">
                <a:solidFill>
                  <a:schemeClr val="tx1"/>
                </a:solidFill>
              </a:rPr>
              <a:t>紀錄該深度影像對應的影格資訊與相機的內參數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TW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altLang="zh-TW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426" y="2908299"/>
            <a:ext cx="4748634" cy="1942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666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DC17DE-3F67-1870-5939-B88E5EF23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22300"/>
            <a:ext cx="4301066" cy="774700"/>
          </a:xfrm>
        </p:spPr>
        <p:txBody>
          <a:bodyPr>
            <a:noAutofit/>
          </a:bodyPr>
          <a:lstStyle/>
          <a:p>
            <a:r>
              <a:rPr lang="zh-TW" altLang="en-US" sz="4000" dirty="0"/>
              <a:t>影像相關資料說明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A89CB3-4BEE-E33D-1EF3-1DDD3C806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536700"/>
            <a:ext cx="9715500" cy="4504663"/>
          </a:xfrm>
        </p:spPr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ClrTx/>
              <a:buSzTx/>
              <a:buNone/>
            </a:pPr>
            <a:r>
              <a:rPr lang="zh-TW" altLang="en-US" sz="2000" dirty="0">
                <a:solidFill>
                  <a:schemeClr val="tx1"/>
                </a:solidFill>
              </a:rPr>
              <a:t>●關於檔名</a:t>
            </a:r>
            <a:r>
              <a:rPr lang="en-US" altLang="zh-TW" sz="2000" dirty="0">
                <a:solidFill>
                  <a:schemeClr val="tx1"/>
                </a:solidFill>
              </a:rPr>
              <a:t>_Depth_metadata.csv</a:t>
            </a:r>
          </a:p>
          <a:p>
            <a:pPr marL="0" lvl="0" indent="0">
              <a:spcBef>
                <a:spcPts val="0"/>
              </a:spcBef>
              <a:buClrTx/>
              <a:buSzTx/>
              <a:buNone/>
            </a:pPr>
            <a:r>
              <a:rPr lang="en-US" altLang="zh-TW" sz="2000" dirty="0">
                <a:solidFill>
                  <a:schemeClr val="tx1"/>
                </a:solidFill>
              </a:rPr>
              <a:t>(1)</a:t>
            </a:r>
            <a:r>
              <a:rPr lang="zh-TW" altLang="en-US" sz="2000" dirty="0">
                <a:solidFill>
                  <a:schemeClr val="tx1"/>
                </a:solidFill>
              </a:rPr>
              <a:t> </a:t>
            </a:r>
            <a:r>
              <a:rPr lang="en-US" altLang="zh-TW" sz="2000" dirty="0">
                <a:solidFill>
                  <a:schemeClr val="tx1"/>
                </a:solidFill>
              </a:rPr>
              <a:t>Type:</a:t>
            </a:r>
            <a:r>
              <a:rPr lang="zh-TW" altLang="en-US" sz="2000" dirty="0">
                <a:solidFill>
                  <a:schemeClr val="tx1"/>
                </a:solidFill>
              </a:rPr>
              <a:t>資料類型為深度影像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marL="0" lvl="0" indent="0">
              <a:spcBef>
                <a:spcPts val="0"/>
              </a:spcBef>
              <a:buClrTx/>
              <a:buSzTx/>
              <a:buNone/>
            </a:pPr>
            <a:r>
              <a:rPr lang="en-US" altLang="zh-TW" sz="2000" dirty="0">
                <a:solidFill>
                  <a:schemeClr val="tx1"/>
                </a:solidFill>
              </a:rPr>
              <a:t>(2)</a:t>
            </a:r>
            <a:r>
              <a:rPr lang="zh-TW" altLang="en-US" sz="2000" dirty="0">
                <a:solidFill>
                  <a:schemeClr val="tx1"/>
                </a:solidFill>
              </a:rPr>
              <a:t> </a:t>
            </a:r>
            <a:r>
              <a:rPr lang="en-US" altLang="zh-TW" sz="2000" dirty="0">
                <a:solidFill>
                  <a:schemeClr val="tx1"/>
                </a:solidFill>
              </a:rPr>
              <a:t>Format:</a:t>
            </a:r>
            <a:r>
              <a:rPr lang="zh-TW" altLang="en-US" sz="2000" dirty="0">
                <a:solidFill>
                  <a:schemeClr val="tx1"/>
                </a:solidFill>
              </a:rPr>
              <a:t>每個像素以</a:t>
            </a:r>
            <a:r>
              <a:rPr lang="en-US" altLang="zh-TW" sz="2000" dirty="0">
                <a:solidFill>
                  <a:schemeClr val="tx1"/>
                </a:solidFill>
              </a:rPr>
              <a:t>16</a:t>
            </a:r>
            <a:r>
              <a:rPr lang="zh-TW" altLang="en-US" sz="2000" dirty="0">
                <a:solidFill>
                  <a:schemeClr val="tx1"/>
                </a:solidFill>
              </a:rPr>
              <a:t>位</a:t>
            </a:r>
            <a:r>
              <a:rPr lang="en-US" altLang="zh-TW" sz="2000" dirty="0">
                <a:solidFill>
                  <a:schemeClr val="tx1"/>
                </a:solidFill>
              </a:rPr>
              <a:t>(2 Bytes)</a:t>
            </a:r>
            <a:r>
              <a:rPr lang="zh-TW" altLang="en-US" sz="2000" dirty="0">
                <a:solidFill>
                  <a:schemeClr val="tx1"/>
                </a:solidFill>
              </a:rPr>
              <a:t>的形式儲存深度資訊</a:t>
            </a:r>
          </a:p>
          <a:p>
            <a:pPr marL="0" lvl="0" indent="0">
              <a:spcBef>
                <a:spcPts val="0"/>
              </a:spcBef>
              <a:buClrTx/>
              <a:buSzTx/>
              <a:buNone/>
            </a:pPr>
            <a:r>
              <a:rPr lang="en-US" altLang="zh-TW" sz="2000" dirty="0">
                <a:solidFill>
                  <a:schemeClr val="tx1"/>
                </a:solidFill>
              </a:rPr>
              <a:t>(3) Resolution x/Resolution y:</a:t>
            </a:r>
            <a:r>
              <a:rPr lang="zh-TW" altLang="en-US" sz="2000" dirty="0">
                <a:solidFill>
                  <a:schemeClr val="tx1"/>
                </a:solidFill>
              </a:rPr>
              <a:t>影像解析度，也就是深度圖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marL="0" lvl="0" indent="0">
              <a:spcBef>
                <a:spcPts val="0"/>
              </a:spcBef>
              <a:buClrTx/>
              <a:buSzTx/>
              <a:buNone/>
            </a:pPr>
            <a:r>
              <a:rPr lang="zh-TW" altLang="en-US" sz="2000" dirty="0">
                <a:solidFill>
                  <a:schemeClr val="tx1"/>
                </a:solidFill>
              </a:rPr>
              <a:t>的尺寸為</a:t>
            </a:r>
            <a:r>
              <a:rPr lang="en-US" altLang="zh-TW" sz="2000" dirty="0">
                <a:solidFill>
                  <a:schemeClr val="tx1"/>
                </a:solidFill>
              </a:rPr>
              <a:t>640(</a:t>
            </a:r>
            <a:r>
              <a:rPr lang="zh-TW" altLang="en-US" sz="2000" dirty="0">
                <a:solidFill>
                  <a:schemeClr val="tx1"/>
                </a:solidFill>
              </a:rPr>
              <a:t>寬</a:t>
            </a:r>
            <a:r>
              <a:rPr lang="en-US" altLang="zh-TW" sz="2000" dirty="0">
                <a:solidFill>
                  <a:schemeClr val="tx1"/>
                </a:solidFill>
              </a:rPr>
              <a:t>)×480(</a:t>
            </a:r>
            <a:r>
              <a:rPr lang="zh-TW" altLang="en-US" sz="2000" dirty="0">
                <a:solidFill>
                  <a:schemeClr val="tx1"/>
                </a:solidFill>
              </a:rPr>
              <a:t>高</a:t>
            </a:r>
            <a:r>
              <a:rPr lang="en-US" altLang="zh-TW" sz="2000" dirty="0">
                <a:solidFill>
                  <a:schemeClr val="tx1"/>
                </a:solidFill>
              </a:rPr>
              <a:t>)</a:t>
            </a:r>
          </a:p>
          <a:p>
            <a:pPr marL="0" indent="0">
              <a:spcBef>
                <a:spcPts val="0"/>
              </a:spcBef>
              <a:buClrTx/>
              <a:buSzTx/>
              <a:buNone/>
            </a:pPr>
            <a:r>
              <a:rPr lang="en-US" altLang="zh-TW" sz="2000" dirty="0">
                <a:solidFill>
                  <a:schemeClr val="tx1"/>
                </a:solidFill>
              </a:rPr>
              <a:t>(4)</a:t>
            </a:r>
            <a:r>
              <a:rPr lang="zh-TW" altLang="en-US" sz="2000" dirty="0">
                <a:solidFill>
                  <a:schemeClr val="tx1"/>
                </a:solidFill>
              </a:rPr>
              <a:t> </a:t>
            </a:r>
            <a:r>
              <a:rPr lang="en-US" altLang="zh-TW" sz="2000" dirty="0" err="1">
                <a:solidFill>
                  <a:schemeClr val="tx1"/>
                </a:solidFill>
              </a:rPr>
              <a:t>Fx</a:t>
            </a:r>
            <a:r>
              <a:rPr lang="en-US" altLang="zh-TW" sz="2000" dirty="0">
                <a:solidFill>
                  <a:schemeClr val="tx1"/>
                </a:solidFill>
              </a:rPr>
              <a:t>/</a:t>
            </a:r>
            <a:r>
              <a:rPr lang="en-US" altLang="zh-TW" sz="2000" dirty="0" err="1">
                <a:solidFill>
                  <a:schemeClr val="tx1"/>
                </a:solidFill>
              </a:rPr>
              <a:t>Fy</a:t>
            </a:r>
            <a:r>
              <a:rPr lang="en-US" altLang="zh-TW" sz="2000" dirty="0">
                <a:solidFill>
                  <a:schemeClr val="tx1"/>
                </a:solidFill>
              </a:rPr>
              <a:t>:</a:t>
            </a:r>
            <a:r>
              <a:rPr lang="zh-TW" altLang="en-US" sz="2000" dirty="0">
                <a:solidFill>
                  <a:schemeClr val="tx1"/>
                </a:solidFill>
              </a:rPr>
              <a:t>相機在</a:t>
            </a:r>
            <a:r>
              <a:rPr lang="en-US" altLang="zh-TW" sz="2000" dirty="0">
                <a:solidFill>
                  <a:schemeClr val="tx1"/>
                </a:solidFill>
              </a:rPr>
              <a:t>XY</a:t>
            </a:r>
            <a:r>
              <a:rPr lang="zh-TW" altLang="en-US" sz="2000" dirty="0">
                <a:solidFill>
                  <a:schemeClr val="tx1"/>
                </a:solidFill>
              </a:rPr>
              <a:t>方向的焦距，即放大能力</a:t>
            </a:r>
            <a:r>
              <a:rPr lang="en-US" altLang="zh-TW" sz="2000" dirty="0">
                <a:solidFill>
                  <a:schemeClr val="tx1"/>
                </a:solidFill>
              </a:rPr>
              <a:t>(</a:t>
            </a:r>
            <a:r>
              <a:rPr lang="zh-TW" altLang="en-US" sz="2000" dirty="0">
                <a:solidFill>
                  <a:schemeClr val="tx1"/>
                </a:solidFill>
              </a:rPr>
              <a:t>單位</a:t>
            </a:r>
            <a:r>
              <a:rPr lang="en-US" altLang="zh-TW" sz="2000" dirty="0">
                <a:solidFill>
                  <a:schemeClr val="tx1"/>
                </a:solidFill>
              </a:rPr>
              <a:t>:</a:t>
            </a:r>
            <a:r>
              <a:rPr lang="zh-TW" altLang="en-US" sz="2000" dirty="0">
                <a:solidFill>
                  <a:schemeClr val="tx1"/>
                </a:solidFill>
              </a:rPr>
              <a:t>像素</a:t>
            </a:r>
            <a:r>
              <a:rPr lang="en-US" altLang="zh-TW" sz="2000" dirty="0">
                <a:solidFill>
                  <a:schemeClr val="tx1"/>
                </a:solidFill>
              </a:rPr>
              <a:t>) </a:t>
            </a:r>
          </a:p>
          <a:p>
            <a:pPr marL="0" indent="0">
              <a:spcBef>
                <a:spcPts val="0"/>
              </a:spcBef>
              <a:buClrTx/>
              <a:buSzTx/>
              <a:buNone/>
            </a:pPr>
            <a:r>
              <a:rPr lang="en-US" altLang="zh-TW" sz="2000" dirty="0">
                <a:solidFill>
                  <a:schemeClr val="tx1"/>
                </a:solidFill>
              </a:rPr>
              <a:t>(5)</a:t>
            </a:r>
            <a:r>
              <a:rPr lang="zh-TW" altLang="en-US" sz="2000" dirty="0">
                <a:solidFill>
                  <a:schemeClr val="tx1"/>
                </a:solidFill>
              </a:rPr>
              <a:t> </a:t>
            </a:r>
            <a:r>
              <a:rPr lang="en-US" altLang="zh-TW" sz="2000" dirty="0" err="1">
                <a:solidFill>
                  <a:schemeClr val="tx1"/>
                </a:solidFill>
              </a:rPr>
              <a:t>PPx</a:t>
            </a:r>
            <a:r>
              <a:rPr lang="en-US" altLang="zh-TW" sz="2000" dirty="0">
                <a:solidFill>
                  <a:schemeClr val="tx1"/>
                </a:solidFill>
              </a:rPr>
              <a:t>/</a:t>
            </a:r>
            <a:r>
              <a:rPr lang="en-US" altLang="zh-TW" sz="2000" dirty="0" err="1">
                <a:solidFill>
                  <a:schemeClr val="tx1"/>
                </a:solidFill>
              </a:rPr>
              <a:t>PPy</a:t>
            </a:r>
            <a:r>
              <a:rPr lang="en-US" altLang="zh-TW" sz="2000" dirty="0">
                <a:solidFill>
                  <a:schemeClr val="tx1"/>
                </a:solidFill>
              </a:rPr>
              <a:t>:</a:t>
            </a:r>
            <a:r>
              <a:rPr lang="zh-TW" altLang="en-US" sz="2000" dirty="0">
                <a:solidFill>
                  <a:schemeClr val="tx1"/>
                </a:solidFill>
              </a:rPr>
              <a:t>相機鏡頭在影像裡的中心位置</a:t>
            </a:r>
            <a:r>
              <a:rPr lang="en-US" altLang="zh-TW" sz="2000" dirty="0">
                <a:solidFill>
                  <a:schemeClr val="tx1"/>
                </a:solidFill>
              </a:rPr>
              <a:t>(</a:t>
            </a:r>
            <a:r>
              <a:rPr lang="zh-TW" altLang="en-US" sz="2000" dirty="0">
                <a:solidFill>
                  <a:schemeClr val="tx1"/>
                </a:solidFill>
              </a:rPr>
              <a:t>單位</a:t>
            </a:r>
            <a:r>
              <a:rPr lang="en-US" altLang="zh-TW" sz="2000" dirty="0">
                <a:solidFill>
                  <a:schemeClr val="tx1"/>
                </a:solidFill>
              </a:rPr>
              <a:t>:</a:t>
            </a:r>
            <a:r>
              <a:rPr lang="zh-TW" altLang="en-US" sz="2000" dirty="0">
                <a:solidFill>
                  <a:schemeClr val="tx1"/>
                </a:solidFill>
              </a:rPr>
              <a:t>像素</a:t>
            </a:r>
            <a:r>
              <a:rPr lang="en-US" altLang="zh-TW" sz="2000" dirty="0">
                <a:solidFill>
                  <a:schemeClr val="tx1"/>
                </a:solidFill>
              </a:rPr>
              <a:t>)</a:t>
            </a:r>
          </a:p>
          <a:p>
            <a:pPr marL="0" lvl="0" indent="0">
              <a:spcBef>
                <a:spcPts val="0"/>
              </a:spcBef>
              <a:buClrTx/>
              <a:buSzTx/>
              <a:buNone/>
            </a:pPr>
            <a:r>
              <a:rPr lang="en-US" altLang="zh-TW" sz="2000" dirty="0">
                <a:solidFill>
                  <a:schemeClr val="tx1"/>
                </a:solidFill>
              </a:rPr>
              <a:t> </a:t>
            </a:r>
          </a:p>
          <a:p>
            <a:pPr marL="0" lvl="0" indent="0">
              <a:spcBef>
                <a:spcPts val="0"/>
              </a:spcBef>
              <a:buClrTx/>
              <a:buSzTx/>
              <a:buNone/>
            </a:pPr>
            <a:endParaRPr lang="en-US" altLang="zh-TW" sz="2000" b="0" i="0" u="none" strike="noStrike" dirty="0">
              <a:solidFill>
                <a:schemeClr val="tx1"/>
              </a:solidFill>
              <a:effectLst/>
            </a:endParaRPr>
          </a:p>
          <a:p>
            <a:pPr marL="0" lvl="0" indent="0">
              <a:spcBef>
                <a:spcPts val="0"/>
              </a:spcBef>
              <a:buClrTx/>
              <a:buSzTx/>
              <a:buNone/>
            </a:pPr>
            <a:r>
              <a:rPr lang="zh-TW" altLang="en-US" sz="2000" dirty="0">
                <a:solidFill>
                  <a:schemeClr val="tx1"/>
                </a:solidFill>
              </a:rPr>
              <a:t>●參數用途</a:t>
            </a:r>
            <a:r>
              <a:rPr lang="en-US" altLang="zh-TW" sz="2000" dirty="0">
                <a:solidFill>
                  <a:schemeClr val="tx1"/>
                </a:solidFill>
              </a:rPr>
              <a:t>:</a:t>
            </a:r>
            <a:r>
              <a:rPr lang="zh-TW" altLang="en-US" sz="2000" dirty="0">
                <a:solidFill>
                  <a:schemeClr val="tx1"/>
                </a:solidFill>
              </a:rPr>
              <a:t>深度圖</a:t>
            </a:r>
            <a:r>
              <a:rPr lang="en-US" altLang="zh-TW" sz="2000" dirty="0">
                <a:solidFill>
                  <a:schemeClr val="tx1"/>
                </a:solidFill>
              </a:rPr>
              <a:t>(depth image)</a:t>
            </a:r>
            <a:r>
              <a:rPr lang="zh-TW" altLang="en-US" sz="2000" dirty="0">
                <a:solidFill>
                  <a:schemeClr val="tx1"/>
                </a:solidFill>
              </a:rPr>
              <a:t> → </a:t>
            </a:r>
            <a:r>
              <a:rPr lang="en-US" altLang="zh-TW" sz="2000" dirty="0">
                <a:solidFill>
                  <a:schemeClr val="tx1"/>
                </a:solidFill>
              </a:rPr>
              <a:t>3D</a:t>
            </a:r>
            <a:r>
              <a:rPr lang="zh-TW" altLang="en-US" sz="2000" dirty="0">
                <a:solidFill>
                  <a:schemeClr val="tx1"/>
                </a:solidFill>
              </a:rPr>
              <a:t>點雲圖</a:t>
            </a:r>
            <a:r>
              <a:rPr lang="en-US" altLang="zh-TW" sz="2000" dirty="0">
                <a:solidFill>
                  <a:schemeClr val="tx1"/>
                </a:solidFill>
              </a:rPr>
              <a:t>(point cloud)</a:t>
            </a:r>
            <a:r>
              <a:rPr lang="zh-TW" altLang="en-US" sz="2000" dirty="0">
                <a:solidFill>
                  <a:schemeClr val="tx1"/>
                </a:solidFill>
              </a:rPr>
              <a:t>轉換</a:t>
            </a:r>
            <a:endParaRPr lang="en-US" altLang="zh-TW" sz="2000" b="0" i="0" u="none" strike="noStrike" dirty="0">
              <a:solidFill>
                <a:schemeClr val="tx1"/>
              </a:solidFill>
              <a:effectLst/>
            </a:endParaRPr>
          </a:p>
          <a:p>
            <a:pPr marL="0" indent="0">
              <a:buNone/>
            </a:pPr>
            <a:r>
              <a:rPr lang="en-US" altLang="zh-TW" sz="2000" dirty="0">
                <a:solidFill>
                  <a:schemeClr val="tx1"/>
                </a:solidFill>
              </a:rPr>
              <a:t>(1)</a:t>
            </a:r>
            <a:r>
              <a:rPr lang="zh-TW" altLang="en-US" sz="2000" dirty="0">
                <a:solidFill>
                  <a:schemeClr val="tx1"/>
                </a:solidFill>
              </a:rPr>
              <a:t>以光達所在位置為原點，座標</a:t>
            </a:r>
            <a:r>
              <a:rPr lang="en-US" altLang="zh-TW" sz="2000" dirty="0">
                <a:solidFill>
                  <a:schemeClr val="tx1"/>
                </a:solidFill>
              </a:rPr>
              <a:t>(</a:t>
            </a:r>
            <a:r>
              <a:rPr lang="en-US" altLang="zh-TW" sz="2000" dirty="0" err="1">
                <a:solidFill>
                  <a:schemeClr val="tx1"/>
                </a:solidFill>
              </a:rPr>
              <a:t>u,v</a:t>
            </a:r>
            <a:r>
              <a:rPr lang="en-US" altLang="zh-TW" sz="2000" dirty="0">
                <a:solidFill>
                  <a:schemeClr val="tx1"/>
                </a:solidFill>
              </a:rPr>
              <a:t>)</a:t>
            </a:r>
            <a:r>
              <a:rPr lang="zh-TW" altLang="en-US" sz="2000" dirty="0">
                <a:solidFill>
                  <a:schemeClr val="tx1"/>
                </a:solidFill>
              </a:rPr>
              <a:t>，深度</a:t>
            </a:r>
            <a:r>
              <a:rPr lang="en-US" altLang="zh-TW" sz="2000" dirty="0">
                <a:solidFill>
                  <a:schemeClr val="tx1"/>
                </a:solidFill>
              </a:rPr>
              <a:t>Z</a:t>
            </a:r>
            <a:r>
              <a:rPr lang="zh-TW" altLang="en-US" sz="2000" dirty="0">
                <a:solidFill>
                  <a:schemeClr val="tx1"/>
                </a:solidFill>
              </a:rPr>
              <a:t>，轉換成在空間中座標</a:t>
            </a:r>
            <a:r>
              <a:rPr lang="en-US" altLang="zh-TW" sz="2000" dirty="0">
                <a:solidFill>
                  <a:schemeClr val="tx1"/>
                </a:solidFill>
              </a:rPr>
              <a:t>(X,Y,Z) </a:t>
            </a:r>
          </a:p>
          <a:p>
            <a:pPr marL="0" indent="0">
              <a:buNone/>
            </a:pPr>
            <a:r>
              <a:rPr lang="en-US" altLang="zh-TW" sz="2000" dirty="0">
                <a:solidFill>
                  <a:schemeClr val="tx1"/>
                </a:solidFill>
              </a:rPr>
              <a:t>(2) X=(u-</a:t>
            </a:r>
            <a:r>
              <a:rPr lang="en-US" altLang="zh-TW" sz="2000" dirty="0" err="1">
                <a:solidFill>
                  <a:schemeClr val="tx1"/>
                </a:solidFill>
              </a:rPr>
              <a:t>PPx</a:t>
            </a:r>
            <a:r>
              <a:rPr lang="en-US" altLang="zh-TW" sz="2000" dirty="0">
                <a:solidFill>
                  <a:schemeClr val="tx1"/>
                </a:solidFill>
              </a:rPr>
              <a:t>)*Z/</a:t>
            </a:r>
            <a:r>
              <a:rPr lang="en-US" altLang="zh-TW" sz="2000" dirty="0" err="1">
                <a:solidFill>
                  <a:schemeClr val="tx1"/>
                </a:solidFill>
              </a:rPr>
              <a:t>Fx</a:t>
            </a:r>
            <a:r>
              <a:rPr lang="en-US" altLang="zh-TW" sz="2000" dirty="0">
                <a:solidFill>
                  <a:schemeClr val="tx1"/>
                </a:solidFill>
              </a:rPr>
              <a:t>, Y=(v-</a:t>
            </a:r>
            <a:r>
              <a:rPr lang="en-US" altLang="zh-TW" sz="2000" dirty="0" err="1">
                <a:solidFill>
                  <a:schemeClr val="tx1"/>
                </a:solidFill>
              </a:rPr>
              <a:t>PPy</a:t>
            </a:r>
            <a:r>
              <a:rPr lang="en-US" altLang="zh-TW" sz="2000" dirty="0">
                <a:solidFill>
                  <a:schemeClr val="tx1"/>
                </a:solidFill>
              </a:rPr>
              <a:t>)*Z/</a:t>
            </a:r>
            <a:r>
              <a:rPr lang="en-US" altLang="zh-TW" sz="2000" dirty="0" err="1">
                <a:solidFill>
                  <a:schemeClr val="tx1"/>
                </a:solidFill>
              </a:rPr>
              <a:t>Fy</a:t>
            </a:r>
            <a:endParaRPr lang="en-US" altLang="zh-TW" sz="2000" dirty="0">
              <a:solidFill>
                <a:schemeClr val="tx1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0700" y="952500"/>
            <a:ext cx="2444900" cy="3570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756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400" b="1" dirty="0"/>
              <a:t>Part 3:</a:t>
            </a:r>
            <a:r>
              <a:rPr lang="zh-TW" altLang="en-US" sz="4400" b="1" dirty="0"/>
              <a:t>邊緣檢測</a:t>
            </a:r>
          </a:p>
        </p:txBody>
      </p:sp>
    </p:spTree>
    <p:extLst>
      <p:ext uri="{BB962C8B-B14F-4D97-AF65-F5344CB8AC3E}">
        <p14:creationId xmlns:p14="http://schemas.microsoft.com/office/powerpoint/2010/main" val="21167113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1092" y="2120543"/>
            <a:ext cx="4915280" cy="3496877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F9A091C3-294A-4164-A5EC-169931B98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邊緣檢測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CD8D15A-0A2B-44A6-8409-B50EB978C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15301"/>
            <a:ext cx="8771465" cy="4052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●</a:t>
            </a:r>
            <a:r>
              <a:rPr lang="zh-TW" altLang="en-US" sz="2000" dirty="0">
                <a:solidFill>
                  <a:schemeClr val="tx1"/>
                </a:solidFill>
              </a:rPr>
              <a:t>深度圖                                                   </a:t>
            </a:r>
            <a:r>
              <a:rPr lang="zh-TW" altLang="en-US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●</a:t>
            </a:r>
            <a:r>
              <a:rPr lang="zh-TW" altLang="en-US" sz="2000" dirty="0">
                <a:solidFill>
                  <a:schemeClr val="tx1"/>
                </a:solidFill>
              </a:rPr>
              <a:t>邊緣圖</a:t>
            </a:r>
            <a:r>
              <a:rPr lang="en-US" altLang="zh-TW" sz="2000" dirty="0">
                <a:solidFill>
                  <a:schemeClr val="tx1"/>
                </a:solidFill>
              </a:rPr>
              <a:t>(</a:t>
            </a:r>
            <a:r>
              <a:rPr lang="zh-TW" altLang="en-US" sz="2000" dirty="0">
                <a:solidFill>
                  <a:schemeClr val="tx1"/>
                </a:solidFill>
              </a:rPr>
              <a:t>白色代表有起伏</a:t>
            </a:r>
            <a:r>
              <a:rPr lang="en-US" altLang="zh-TW" sz="2000" dirty="0">
                <a:solidFill>
                  <a:schemeClr val="tx1"/>
                </a:solidFill>
              </a:rPr>
              <a:t>)</a:t>
            </a:r>
            <a:endParaRPr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C4AEFBA-82F2-1A76-D15B-36D76E301C16}"/>
              </a:ext>
            </a:extLst>
          </p:cNvPr>
          <p:cNvSpPr txBox="1"/>
          <p:nvPr/>
        </p:nvSpPr>
        <p:spPr>
          <a:xfrm>
            <a:off x="6910378" y="4266964"/>
            <a:ext cx="1195866" cy="408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B2FAA0B-EB1E-56A9-7234-241404A7390C}"/>
              </a:ext>
            </a:extLst>
          </p:cNvPr>
          <p:cNvSpPr txBox="1"/>
          <p:nvPr/>
        </p:nvSpPr>
        <p:spPr>
          <a:xfrm>
            <a:off x="5785189" y="2400003"/>
            <a:ext cx="1352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</a:rPr>
              <a:t>床角與邊緣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B2FAA0B-EB1E-56A9-7234-241404A7390C}"/>
              </a:ext>
            </a:extLst>
          </p:cNvPr>
          <p:cNvSpPr txBox="1"/>
          <p:nvPr/>
        </p:nvSpPr>
        <p:spPr>
          <a:xfrm>
            <a:off x="6961490" y="4725117"/>
            <a:ext cx="2045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</a:rPr>
              <a:t>杯子與紙箱邊緣</a:t>
            </a: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2120543"/>
            <a:ext cx="4478866" cy="3496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476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7E30D9-7C88-40E5-A048-894AB7D0C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13284"/>
            <a:ext cx="8596668" cy="1320800"/>
          </a:xfrm>
        </p:spPr>
        <p:txBody>
          <a:bodyPr>
            <a:normAutofit/>
          </a:bodyPr>
          <a:lstStyle/>
          <a:p>
            <a:r>
              <a:rPr lang="zh-TW" altLang="en-US" sz="4000" dirty="0"/>
              <a:t>參考做法</a:t>
            </a:r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CA83BB80-2E4D-5D8A-8FFB-AA6458034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62100"/>
            <a:ext cx="9292167" cy="4172457"/>
          </a:xfrm>
        </p:spPr>
        <p:txBody>
          <a:bodyPr/>
          <a:lstStyle/>
          <a:p>
            <a:pPr marL="0" indent="0">
              <a:buNone/>
            </a:pPr>
            <a:r>
              <a:rPr lang="zh-TW" altLang="en-US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●</a:t>
            </a:r>
            <a:r>
              <a:rPr lang="en-US" altLang="zh-TW" sz="2000" dirty="0">
                <a:solidFill>
                  <a:schemeClr val="tx1"/>
                </a:solidFill>
              </a:rPr>
              <a:t>Laplacian:</a:t>
            </a:r>
            <a:r>
              <a:rPr lang="zh-TW" altLang="en-US" sz="2000" dirty="0">
                <a:solidFill>
                  <a:schemeClr val="tx1"/>
                </a:solidFill>
              </a:rPr>
              <a:t>利用</a:t>
            </a:r>
            <a:r>
              <a:rPr lang="en-US" altLang="zh-TW" sz="2000" dirty="0">
                <a:solidFill>
                  <a:schemeClr val="tx1"/>
                </a:solidFill>
              </a:rPr>
              <a:t>Kernel</a:t>
            </a:r>
            <a:r>
              <a:rPr lang="zh-TW" altLang="en-US" sz="2000" dirty="0">
                <a:solidFill>
                  <a:schemeClr val="tx1"/>
                </a:solidFill>
              </a:rPr>
              <a:t>對深度圖做捲積檢測平面</a:t>
            </a:r>
            <a:endParaRPr lang="en-US" altLang="zh-TW" sz="2000" dirty="0">
              <a:solidFill>
                <a:schemeClr val="tx1"/>
              </a:solidFill>
            </a:endParaRPr>
          </a:p>
          <a:p>
            <a:endParaRPr lang="en-US" altLang="zh-TW" sz="2000" dirty="0">
              <a:solidFill>
                <a:schemeClr val="tx1"/>
              </a:solidFill>
            </a:endParaRPr>
          </a:p>
          <a:p>
            <a:endParaRPr lang="en-US" altLang="zh-TW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TW" altLang="en-US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●</a:t>
            </a:r>
            <a:r>
              <a:rPr lang="en-US" altLang="zh-TW" sz="2000" dirty="0">
                <a:solidFill>
                  <a:schemeClr val="tx1"/>
                </a:solidFill>
              </a:rPr>
              <a:t>Sobel Operator:</a:t>
            </a:r>
            <a:r>
              <a:rPr lang="zh-TW" altLang="en-US" sz="2000" dirty="0">
                <a:solidFill>
                  <a:schemeClr val="tx1"/>
                </a:solidFill>
              </a:rPr>
              <a:t>利用水平與垂直方向梯度 </a:t>
            </a:r>
            <a:r>
              <a:rPr lang="en-US" altLang="zh-TW" sz="2000" dirty="0" err="1">
                <a:solidFill>
                  <a:schemeClr val="tx1"/>
                </a:solidFill>
              </a:rPr>
              <a:t>Gx,Gy</a:t>
            </a:r>
            <a:r>
              <a:rPr lang="zh-TW" altLang="en-US" sz="2000" dirty="0">
                <a:solidFill>
                  <a:schemeClr val="tx1"/>
                </a:solidFill>
              </a:rPr>
              <a:t>，取得邊緣方向與強度</a:t>
            </a:r>
            <a:endParaRPr lang="en-US" altLang="zh-TW" sz="2000" dirty="0">
              <a:solidFill>
                <a:schemeClr val="tx1"/>
              </a:solidFill>
            </a:endParaRPr>
          </a:p>
          <a:p>
            <a:endParaRPr lang="en-US" altLang="zh-TW" sz="2000" dirty="0">
              <a:solidFill>
                <a:schemeClr val="tx1"/>
              </a:solidFill>
            </a:endParaRPr>
          </a:p>
          <a:p>
            <a:endParaRPr lang="en-US" altLang="zh-TW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TW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TW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TW" altLang="en-US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●</a:t>
            </a:r>
            <a:r>
              <a:rPr lang="zh-TW" altLang="en-US" sz="2000" dirty="0">
                <a:solidFill>
                  <a:schemeClr val="tx1"/>
                </a:solidFill>
              </a:rPr>
              <a:t>其他做法與延伸</a:t>
            </a:r>
            <a:endParaRPr lang="en-US" altLang="zh-TW" sz="2000" dirty="0">
              <a:solidFill>
                <a:schemeClr val="tx1"/>
              </a:solidFill>
            </a:endParaRPr>
          </a:p>
          <a:p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D8AFE03-8DAC-81BA-75AF-07F6B2606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938" y="1951058"/>
            <a:ext cx="1877562" cy="895618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4749F53A-CEFC-DC7F-2D00-E6EB9A219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557" y="3292055"/>
            <a:ext cx="1724943" cy="1615115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C10AFBDD-2D79-3EC6-1018-A40773451B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5362" y="3746220"/>
            <a:ext cx="1916521" cy="57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7882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400" b="1" dirty="0"/>
              <a:t>Part 4:</a:t>
            </a:r>
            <a:r>
              <a:rPr lang="zh-TW" altLang="en-US" sz="4400" b="1" dirty="0"/>
              <a:t>圖片合併</a:t>
            </a:r>
          </a:p>
        </p:txBody>
      </p:sp>
    </p:spTree>
    <p:extLst>
      <p:ext uri="{BB962C8B-B14F-4D97-AF65-F5344CB8AC3E}">
        <p14:creationId xmlns:p14="http://schemas.microsoft.com/office/powerpoint/2010/main" val="1198489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EE1441-7FE6-8F45-9BDE-BC5C2D028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54985"/>
          </a:xfrm>
        </p:spPr>
        <p:txBody>
          <a:bodyPr>
            <a:normAutofit/>
          </a:bodyPr>
          <a:lstStyle/>
          <a:p>
            <a:r>
              <a:rPr lang="zh-TW" altLang="en-US" sz="4000" dirty="0"/>
              <a:t>圖片合併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6ED38CD-0FF5-C169-C51C-33D7AF6E0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19470"/>
            <a:ext cx="8596668" cy="4593562"/>
          </a:xfrm>
        </p:spPr>
        <p:txBody>
          <a:bodyPr/>
          <a:lstStyle/>
          <a:p>
            <a:pPr marL="0" indent="0">
              <a:buNone/>
            </a:pPr>
            <a:r>
              <a:rPr lang="zh-TW" altLang="en-US" sz="2000" dirty="0">
                <a:latin typeface="Century Gothic" panose="020B0502020202020204" pitchFamily="34" charset="0"/>
              </a:rPr>
              <a:t>●</a:t>
            </a:r>
            <a:r>
              <a:rPr lang="zh-TW" altLang="en-US" sz="2000" dirty="0"/>
              <a:t>圖</a:t>
            </a:r>
            <a:r>
              <a:rPr lang="en-US" altLang="zh-TW" sz="2000" dirty="0"/>
              <a:t>1</a:t>
            </a:r>
            <a:r>
              <a:rPr lang="zh-TW" altLang="en-US" sz="2000" dirty="0"/>
              <a:t>                                </a:t>
            </a:r>
            <a:r>
              <a:rPr lang="zh-TW" altLang="en-US" sz="2000" dirty="0">
                <a:latin typeface="Century Gothic" panose="020B0502020202020204" pitchFamily="34" charset="0"/>
              </a:rPr>
              <a:t>●</a:t>
            </a:r>
            <a:r>
              <a:rPr lang="zh-TW" altLang="en-US" sz="2000" dirty="0"/>
              <a:t>圖</a:t>
            </a:r>
            <a:r>
              <a:rPr lang="en-US" altLang="zh-TW" sz="2000" dirty="0"/>
              <a:t>2</a:t>
            </a:r>
            <a:r>
              <a:rPr lang="zh-TW" altLang="en-US" sz="2000" dirty="0"/>
              <a:t>                                   </a:t>
            </a:r>
            <a:r>
              <a:rPr lang="zh-TW" altLang="en-US" sz="2000" dirty="0">
                <a:latin typeface="Century Gothic" panose="020B0502020202020204" pitchFamily="34" charset="0"/>
              </a:rPr>
              <a:t>●</a:t>
            </a:r>
            <a:r>
              <a:rPr lang="zh-TW" altLang="en-US" sz="2000" dirty="0"/>
              <a:t>圖</a:t>
            </a:r>
            <a:r>
              <a:rPr lang="en-US" altLang="zh-TW" sz="2000" dirty="0"/>
              <a:t>3</a:t>
            </a:r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>
                <a:latin typeface="Century Gothic" panose="020B0502020202020204" pitchFamily="34" charset="0"/>
              </a:rPr>
              <a:t>●</a:t>
            </a:r>
            <a:r>
              <a:rPr lang="zh-TW" altLang="en-US" dirty="0"/>
              <a:t>合併圖</a:t>
            </a:r>
            <a:r>
              <a:rPr lang="en-US" altLang="zh-TW" dirty="0"/>
              <a:t>1+2+3</a:t>
            </a:r>
            <a:r>
              <a:rPr lang="zh-TW" altLang="en-US" dirty="0"/>
              <a:t>                       </a:t>
            </a:r>
            <a:r>
              <a:rPr lang="zh-TW" altLang="en-US" dirty="0">
                <a:latin typeface="Century Gothic" panose="020B0502020202020204" pitchFamily="34" charset="0"/>
              </a:rPr>
              <a:t>●</a:t>
            </a:r>
            <a:r>
              <a:rPr lang="zh-TW" altLang="en-US" dirty="0"/>
              <a:t>合併圖</a:t>
            </a:r>
            <a:r>
              <a:rPr lang="en-US" altLang="zh-TW" dirty="0"/>
              <a:t>1+2+3</a:t>
            </a:r>
            <a:r>
              <a:rPr lang="zh-TW" altLang="en-US" dirty="0"/>
              <a:t> 轉換視角           </a:t>
            </a:r>
            <a:r>
              <a:rPr lang="zh-TW" altLang="en-US" dirty="0">
                <a:latin typeface="Century Gothic" panose="020B0502020202020204" pitchFamily="34" charset="0"/>
              </a:rPr>
              <a:t>●</a:t>
            </a:r>
            <a:r>
              <a:rPr lang="zh-TW" altLang="en-US" dirty="0"/>
              <a:t>合併圖輪廓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754" y="1701760"/>
            <a:ext cx="2794051" cy="2095539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9651" y="1701761"/>
            <a:ext cx="2794050" cy="2095538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7902" y="1719477"/>
            <a:ext cx="2770429" cy="2077822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655" y="4160708"/>
            <a:ext cx="2868283" cy="2152331"/>
          </a:xfrm>
          <a:prstGeom prst="rect">
            <a:avLst/>
          </a:prstGeom>
        </p:spPr>
      </p:pic>
      <p:pic>
        <p:nvPicPr>
          <p:cNvPr id="16" name="圖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9651" y="4160708"/>
            <a:ext cx="2794949" cy="2152331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1434" y="4152191"/>
            <a:ext cx="2887449" cy="2160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745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A049A6-CDC3-07CA-7E2D-DB3595645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90600"/>
          </a:xfrm>
        </p:spPr>
        <p:txBody>
          <a:bodyPr>
            <a:normAutofit/>
          </a:bodyPr>
          <a:lstStyle/>
          <a:p>
            <a:r>
              <a:rPr lang="zh-TW" altLang="en-US" sz="4000" dirty="0"/>
              <a:t>參考做法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CE04A5-DEDB-65A8-DFE0-02C27CADC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5901"/>
            <a:ext cx="8596668" cy="3898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000" dirty="0">
                <a:latin typeface="Century Gothic" panose="020B0502020202020204" pitchFamily="34" charset="0"/>
              </a:rPr>
              <a:t>●</a:t>
            </a:r>
            <a:r>
              <a:rPr lang="zh-TW" altLang="en-US" sz="2000" dirty="0">
                <a:solidFill>
                  <a:schemeClr val="tx1"/>
                </a:solidFill>
              </a:rPr>
              <a:t>拍攝時可精確控制旋轉角度，使每張圖有一定的重疊區域。後續根據旋轉角度或位移量進行轉換</a:t>
            </a:r>
            <a:endParaRPr lang="en-US" altLang="zh-TW" sz="20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altLang="zh-TW" sz="20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zh-TW" altLang="en-US" sz="2000" dirty="0">
                <a:latin typeface="Century Gothic" panose="020B0502020202020204" pitchFamily="34" charset="0"/>
              </a:rPr>
              <a:t>●</a:t>
            </a:r>
            <a:r>
              <a:rPr lang="zh-TW" altLang="en-US" sz="2000" dirty="0">
                <a:solidFill>
                  <a:schemeClr val="tx1"/>
                </a:solidFill>
              </a:rPr>
              <a:t>手動特徵提取</a:t>
            </a:r>
            <a:r>
              <a:rPr lang="zh-TW" altLang="en-US" sz="2000" b="1" dirty="0">
                <a:solidFill>
                  <a:schemeClr val="tx1"/>
                </a:solidFill>
              </a:rPr>
              <a:t>，</a:t>
            </a:r>
            <a:r>
              <a:rPr lang="zh-TW" altLang="en-US" sz="2000" dirty="0">
                <a:solidFill>
                  <a:schemeClr val="tx1"/>
                </a:solidFill>
              </a:rPr>
              <a:t>例如取物體邊緣、角落等特徵點，或在拍照時放置一些參考物體，根據每張圖特徵所在位置計算轉換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TW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TW" altLang="en-US" sz="2000" dirty="0">
                <a:latin typeface="Century Gothic" panose="020B0502020202020204" pitchFamily="34" charset="0"/>
              </a:rPr>
              <a:t>● </a:t>
            </a:r>
            <a:r>
              <a:rPr lang="en-US" altLang="zh-TW" sz="2000" dirty="0">
                <a:solidFill>
                  <a:schemeClr val="tx1"/>
                </a:solidFill>
              </a:rPr>
              <a:t>ICP</a:t>
            </a:r>
            <a:r>
              <a:rPr lang="zh-TW" altLang="en-US" sz="2000" dirty="0">
                <a:solidFill>
                  <a:schemeClr val="tx1"/>
                </a:solidFill>
              </a:rPr>
              <a:t>演算法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TW" sz="20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zh-TW" altLang="en-US" sz="2000" dirty="0">
                <a:latin typeface="Century Gothic" panose="020B0502020202020204" pitchFamily="34" charset="0"/>
              </a:rPr>
              <a:t>●</a:t>
            </a:r>
            <a:r>
              <a:rPr lang="zh-TW" altLang="en-US" sz="2000" dirty="0">
                <a:solidFill>
                  <a:schemeClr val="tx1"/>
                </a:solidFill>
              </a:rPr>
              <a:t>其他做法與延伸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TW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6232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9AA703-771E-41AA-B1B7-E80FF422C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7067358" cy="876300"/>
          </a:xfrm>
        </p:spPr>
        <p:txBody>
          <a:bodyPr>
            <a:normAutofit/>
          </a:bodyPr>
          <a:lstStyle/>
          <a:p>
            <a:r>
              <a:rPr lang="en-US" altLang="zh-TW" sz="4000" dirty="0"/>
              <a:t>ICP(</a:t>
            </a:r>
            <a:r>
              <a:rPr lang="en-US" altLang="zh-TW" dirty="0"/>
              <a:t>Iterative closest point)</a:t>
            </a:r>
            <a:r>
              <a:rPr lang="zh-TW" altLang="en-US" sz="4000" dirty="0"/>
              <a:t>簡介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93E3BC-FECD-4A12-901C-057ABA1DF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00" y="1358900"/>
            <a:ext cx="7518400" cy="2730499"/>
          </a:xfrm>
        </p:spPr>
        <p:txBody>
          <a:bodyPr/>
          <a:lstStyle/>
          <a:p>
            <a:pPr marL="0" indent="0">
              <a:buNone/>
            </a:pPr>
            <a:r>
              <a:rPr lang="zh-TW" altLang="en-US" sz="2000" dirty="0">
                <a:latin typeface="Century Gothic" panose="020B0502020202020204" pitchFamily="34" charset="0"/>
              </a:rPr>
              <a:t>●</a:t>
            </a:r>
            <a:r>
              <a:rPr lang="zh-TW" altLang="en-US" sz="2000" dirty="0"/>
              <a:t>用於把兩個或多個二維或三維點雲對齊的方法 </a:t>
            </a:r>
            <a:endParaRPr lang="en-US" altLang="zh-TW" sz="2000" dirty="0"/>
          </a:p>
          <a:p>
            <a:pPr marL="0" indent="0">
              <a:buNone/>
            </a:pPr>
            <a:r>
              <a:rPr lang="zh-TW" altLang="en-US" sz="2000" dirty="0">
                <a:latin typeface="Century Gothic" panose="020B0502020202020204" pitchFamily="34" charset="0"/>
              </a:rPr>
              <a:t>●</a:t>
            </a:r>
            <a:r>
              <a:rPr lang="zh-TW" altLang="en-US" sz="2000" dirty="0"/>
              <a:t>旁邊是兩張模擬的點經旋轉與加入雜訊後，透過</a:t>
            </a:r>
            <a:r>
              <a:rPr lang="en-US" altLang="zh-TW" sz="2000" dirty="0"/>
              <a:t>ICP</a:t>
            </a:r>
            <a:r>
              <a:rPr lang="zh-TW" altLang="en-US" sz="2000" dirty="0"/>
              <a:t>進行配準</a:t>
            </a:r>
            <a:endParaRPr lang="en-US" altLang="zh-TW" sz="2000" dirty="0"/>
          </a:p>
          <a:p>
            <a:pPr marL="0" indent="0">
              <a:buNone/>
            </a:pPr>
            <a:r>
              <a:rPr lang="zh-TW" altLang="en-US" sz="2000" dirty="0">
                <a:latin typeface="Century Gothic" panose="020B0502020202020204" pitchFamily="34" charset="0"/>
              </a:rPr>
              <a:t>●</a:t>
            </a:r>
            <a:r>
              <a:rPr lang="zh-TW" altLang="en-US" sz="2000" dirty="0"/>
              <a:t>紅色點雲</a:t>
            </a:r>
            <a:r>
              <a:rPr lang="en-US" altLang="zh-TW" sz="2000" dirty="0"/>
              <a:t>:</a:t>
            </a:r>
            <a:r>
              <a:rPr lang="zh-TW" altLang="en-US" sz="2000" dirty="0"/>
              <a:t>起始資料，需對齊至藍色點雲</a:t>
            </a:r>
            <a:endParaRPr lang="en-US" altLang="zh-TW" sz="2000" dirty="0"/>
          </a:p>
          <a:p>
            <a:pPr marL="0" indent="0">
              <a:buNone/>
            </a:pPr>
            <a:r>
              <a:rPr lang="zh-TW" altLang="en-US" sz="2000" dirty="0">
                <a:latin typeface="Century Gothic" panose="020B0502020202020204" pitchFamily="34" charset="0"/>
              </a:rPr>
              <a:t>●</a:t>
            </a:r>
            <a:r>
              <a:rPr lang="zh-TW" altLang="en-US" sz="2000" dirty="0"/>
              <a:t>藍色點雲</a:t>
            </a:r>
            <a:r>
              <a:rPr lang="en-US" altLang="zh-TW" sz="2000" dirty="0"/>
              <a:t>:</a:t>
            </a:r>
            <a:r>
              <a:rPr lang="zh-TW" altLang="en-US" sz="2000" dirty="0"/>
              <a:t>作為目標資料，保持固定不動</a:t>
            </a:r>
            <a:endParaRPr lang="en-US" altLang="zh-TW" sz="2000" dirty="0"/>
          </a:p>
          <a:p>
            <a:pPr marL="0" indent="0">
              <a:buNone/>
            </a:pPr>
            <a:r>
              <a:rPr lang="zh-TW" altLang="en-US" sz="2000" dirty="0">
                <a:latin typeface="Century Gothic" panose="020B0502020202020204" pitchFamily="34" charset="0"/>
              </a:rPr>
              <a:t>●</a:t>
            </a:r>
            <a:r>
              <a:rPr lang="zh-TW" altLang="en-US" sz="2000" dirty="0"/>
              <a:t>綠色點雲</a:t>
            </a:r>
            <a:r>
              <a:rPr lang="en-US" altLang="zh-TW" sz="2000" dirty="0"/>
              <a:t>:</a:t>
            </a:r>
            <a:r>
              <a:rPr lang="zh-TW" altLang="en-US" sz="2000" dirty="0"/>
              <a:t>每次迭代後轉換的紅色點雲，逐步逼近藍色點雲 </a:t>
            </a:r>
            <a:endParaRPr lang="en-US" altLang="zh-TW" sz="2000" dirty="0"/>
          </a:p>
          <a:p>
            <a:pPr marL="0" indent="0">
              <a:buNone/>
            </a:pPr>
            <a:r>
              <a:rPr lang="zh-TW" altLang="en-US" sz="2000" dirty="0">
                <a:latin typeface="Century Gothic" panose="020B0502020202020204" pitchFamily="34" charset="0"/>
              </a:rPr>
              <a:t>●</a:t>
            </a:r>
            <a:r>
              <a:rPr lang="zh-TW" altLang="en-US" sz="2000" dirty="0"/>
              <a:t>實際應用中可能存在雜訊與遮擋，因此結果不一定幾乎貼合</a:t>
            </a:r>
            <a:endParaRPr lang="en-US" altLang="zh-TW" sz="2000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AEE2880-51AD-4006-A9EB-2A2D5F0C3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252" y="777623"/>
            <a:ext cx="1982422" cy="200659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013B969-DC71-4CCE-A423-3F102AE3F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2945" y="777623"/>
            <a:ext cx="2014940" cy="2010026"/>
          </a:xfrm>
          <a:prstGeom prst="rect">
            <a:avLst/>
          </a:prstGeom>
        </p:spPr>
      </p:pic>
      <p:pic>
        <p:nvPicPr>
          <p:cNvPr id="6" name="內容版面配置區 4">
            <a:extLst>
              <a:ext uri="{FF2B5EF4-FFF2-40B4-BE49-F238E27FC236}">
                <a16:creationId xmlns:a16="http://schemas.microsoft.com/office/drawing/2014/main" id="{E363347A-D5BF-4784-A2CE-FD37EB647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4434" y="3869036"/>
            <a:ext cx="2633852" cy="266597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D1BCE3F-DE42-4EEF-9F67-A88C89AD35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1441" y="3869036"/>
            <a:ext cx="2633852" cy="266597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4B65CE80-B80B-4DAD-8A04-AF8BACF607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8448" y="3869035"/>
            <a:ext cx="2633852" cy="2665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6970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E3B3F5-1602-4D43-8CBB-669B147F1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/>
              <a:t>ICP</a:t>
            </a:r>
            <a:r>
              <a:rPr lang="zh-TW" altLang="en-US" sz="4000" dirty="0"/>
              <a:t>演算法流程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DC5B46-D2E5-43A8-8914-9F6F1DFBC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233" y="1512889"/>
            <a:ext cx="11105091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000" dirty="0">
                <a:solidFill>
                  <a:schemeClr val="tx1"/>
                </a:solidFill>
              </a:rPr>
              <a:t>(1)</a:t>
            </a:r>
            <a:r>
              <a:rPr lang="zh-TW" altLang="en-US" sz="2000" dirty="0">
                <a:solidFill>
                  <a:schemeClr val="tx1"/>
                </a:solidFill>
              </a:rPr>
              <a:t>初始化</a:t>
            </a:r>
            <a:r>
              <a:rPr lang="en-US" altLang="zh-TW" sz="2000" dirty="0">
                <a:solidFill>
                  <a:schemeClr val="tx1"/>
                </a:solidFill>
              </a:rPr>
              <a:t>:</a:t>
            </a:r>
            <a:r>
              <a:rPr lang="zh-TW" altLang="en-US" sz="2000" dirty="0">
                <a:solidFill>
                  <a:schemeClr val="tx1"/>
                </a:solidFill>
              </a:rPr>
              <a:t>設定初始轉換矩陣，可以照大概方向自己設定或隨意設一個</a:t>
            </a:r>
            <a:r>
              <a:rPr lang="en-US" altLang="zh-TW" sz="2000" dirty="0">
                <a:solidFill>
                  <a:schemeClr val="tx1"/>
                </a:solidFill>
              </a:rPr>
              <a:t>(</a:t>
            </a:r>
            <a:r>
              <a:rPr lang="zh-TW" altLang="en-US" sz="2000" dirty="0">
                <a:solidFill>
                  <a:schemeClr val="tx1"/>
                </a:solidFill>
              </a:rPr>
              <a:t>如單位矩陣</a:t>
            </a:r>
            <a:r>
              <a:rPr lang="en-US" altLang="zh-TW" sz="2000" dirty="0">
                <a:solidFill>
                  <a:schemeClr val="tx1"/>
                </a:solidFill>
              </a:rPr>
              <a:t>I)</a:t>
            </a:r>
          </a:p>
          <a:p>
            <a:pPr marL="0" indent="0">
              <a:buNone/>
            </a:pPr>
            <a:r>
              <a:rPr lang="en-US" altLang="zh-TW" sz="2000" dirty="0">
                <a:solidFill>
                  <a:schemeClr val="tx1"/>
                </a:solidFill>
              </a:rPr>
              <a:t>(2)</a:t>
            </a:r>
            <a:r>
              <a:rPr lang="zh-TW" altLang="en-US" sz="2000" dirty="0">
                <a:solidFill>
                  <a:schemeClr val="tx1"/>
                </a:solidFill>
              </a:rPr>
              <a:t>最近點搜尋</a:t>
            </a:r>
            <a:r>
              <a:rPr lang="en-US" altLang="zh-TW" sz="2000" dirty="0">
                <a:solidFill>
                  <a:schemeClr val="tx1"/>
                </a:solidFill>
              </a:rPr>
              <a:t>:</a:t>
            </a:r>
            <a:r>
              <a:rPr lang="zh-TW" altLang="en-US" sz="2000" dirty="0">
                <a:solidFill>
                  <a:schemeClr val="tx1"/>
                </a:solidFill>
              </a:rPr>
              <a:t>對於源點雲中的每個點，找出目標點雲中距離最近的點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TW" sz="2000" dirty="0">
                <a:solidFill>
                  <a:schemeClr val="tx1"/>
                </a:solidFill>
              </a:rPr>
              <a:t>(3)</a:t>
            </a:r>
            <a:r>
              <a:rPr lang="zh-TW" altLang="en-US" sz="2000" dirty="0"/>
              <a:t>估算變換</a:t>
            </a:r>
            <a:r>
              <a:rPr lang="en-US" altLang="zh-TW" sz="2000" dirty="0"/>
              <a:t>:</a:t>
            </a:r>
            <a:r>
              <a:rPr lang="zh-TW" altLang="en-US" sz="2000" dirty="0">
                <a:solidFill>
                  <a:schemeClr val="tx1"/>
                </a:solidFill>
              </a:rPr>
              <a:t> </a:t>
            </a:r>
            <a:r>
              <a:rPr lang="zh-TW" altLang="en-US" sz="2000" dirty="0"/>
              <a:t>最小化對應點間距離平方和，求得最佳旋轉</a:t>
            </a:r>
            <a:r>
              <a:rPr lang="zh-TW" altLang="en-US" sz="2000" dirty="0">
                <a:solidFill>
                  <a:schemeClr val="tx1"/>
                </a:solidFill>
              </a:rPr>
              <a:t>矩陣</a:t>
            </a:r>
            <a:r>
              <a:rPr lang="zh-TW" altLang="en-US" sz="2000" dirty="0"/>
              <a:t> </a:t>
            </a:r>
            <a:r>
              <a:rPr lang="en-US" altLang="zh-TW" sz="2000" dirty="0"/>
              <a:t>R </a:t>
            </a:r>
            <a:r>
              <a:rPr lang="zh-TW" altLang="en-US" sz="2000" dirty="0"/>
              <a:t>與平移向量 </a:t>
            </a:r>
            <a:r>
              <a:rPr lang="en-US" altLang="zh-TW" sz="2000" dirty="0"/>
              <a:t>t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TW" sz="2000" dirty="0">
                <a:solidFill>
                  <a:schemeClr val="tx1"/>
                </a:solidFill>
              </a:rPr>
              <a:t>(4)</a:t>
            </a:r>
            <a:r>
              <a:rPr lang="zh-TW" altLang="en-US" sz="2000" dirty="0"/>
              <a:t>套用轉換</a:t>
            </a:r>
            <a:r>
              <a:rPr lang="en-US" altLang="zh-TW" sz="2000" dirty="0"/>
              <a:t>:</a:t>
            </a:r>
            <a:r>
              <a:rPr lang="zh-TW" altLang="en-US" sz="2000" dirty="0"/>
              <a:t>更新源點雲的位置，使其更接近目標點雲</a:t>
            </a:r>
            <a:endParaRPr lang="en-US" altLang="zh-TW" sz="2000" dirty="0"/>
          </a:p>
          <a:p>
            <a:pPr marL="0" indent="0">
              <a:buNone/>
            </a:pPr>
            <a:r>
              <a:rPr lang="en-US" altLang="zh-TW" sz="2000" dirty="0">
                <a:solidFill>
                  <a:schemeClr val="tx1"/>
                </a:solidFill>
              </a:rPr>
              <a:t>(5)</a:t>
            </a:r>
            <a:r>
              <a:rPr lang="zh-TW" altLang="en-US" sz="2000" dirty="0"/>
              <a:t>重複步驟 </a:t>
            </a:r>
            <a:r>
              <a:rPr lang="en-US" altLang="zh-TW" sz="2000" dirty="0"/>
              <a:t>(2)–(4)</a:t>
            </a:r>
            <a:r>
              <a:rPr lang="zh-TW" altLang="en-US" sz="2000" dirty="0"/>
              <a:t>：直到誤差變化小於設定閾值，或達到最大迭代次數</a:t>
            </a:r>
            <a:endParaRPr lang="en-US" altLang="zh-TW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78883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5266CE-E872-65E3-72EB-B42D41BBB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034" y="609601"/>
            <a:ext cx="8596668" cy="901700"/>
          </a:xfrm>
        </p:spPr>
        <p:txBody>
          <a:bodyPr>
            <a:normAutofit/>
          </a:bodyPr>
          <a:lstStyle/>
          <a:p>
            <a:r>
              <a:rPr lang="zh-TW" altLang="en-US" sz="4000" dirty="0"/>
              <a:t>注意事項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9D0864-633A-A989-9C4A-AC9AAD86F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1301"/>
            <a:ext cx="9114366" cy="3301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000" dirty="0">
                <a:latin typeface="Century Gothic" panose="020B0502020202020204" pitchFamily="34" charset="0"/>
              </a:rPr>
              <a:t>●</a:t>
            </a:r>
            <a:r>
              <a:rPr lang="zh-TW" altLang="en-US" sz="2000" dirty="0"/>
              <a:t>挑選適當拍攝位置，透明材質</a:t>
            </a:r>
            <a:r>
              <a:rPr lang="en-US" altLang="zh-TW" sz="2000" dirty="0"/>
              <a:t>(</a:t>
            </a:r>
            <a:r>
              <a:rPr lang="zh-TW" altLang="en-US" sz="2000" dirty="0"/>
              <a:t>如玻璃</a:t>
            </a:r>
            <a:r>
              <a:rPr lang="en-US" altLang="zh-TW" sz="2000" dirty="0"/>
              <a:t>)</a:t>
            </a:r>
            <a:r>
              <a:rPr lang="zh-TW" altLang="en-US" sz="2000" dirty="0"/>
              <a:t>可能量不到</a:t>
            </a:r>
            <a:endParaRPr lang="en-US" altLang="zh-TW" sz="2000" dirty="0"/>
          </a:p>
          <a:p>
            <a:pPr marL="0" indent="0">
              <a:buNone/>
            </a:pPr>
            <a:r>
              <a:rPr lang="zh-TW" altLang="en-US" sz="2000" dirty="0">
                <a:latin typeface="Century Gothic" panose="020B0502020202020204" pitchFamily="34" charset="0"/>
              </a:rPr>
              <a:t>●</a:t>
            </a:r>
            <a:r>
              <a:rPr lang="zh-TW" altLang="en-US" sz="2000" dirty="0"/>
              <a:t>光達有距離方面的使用限制 太近的東西看不到</a:t>
            </a:r>
            <a:endParaRPr lang="en-US" altLang="zh-TW" sz="2000" dirty="0"/>
          </a:p>
          <a:p>
            <a:pPr marL="0" indent="0">
              <a:buNone/>
            </a:pPr>
            <a:r>
              <a:rPr lang="zh-TW" altLang="en-US" sz="2000" dirty="0">
                <a:latin typeface="Century Gothic" panose="020B0502020202020204" pitchFamily="34" charset="0"/>
              </a:rPr>
              <a:t>●</a:t>
            </a:r>
            <a:r>
              <a:rPr lang="zh-TW" altLang="en-US" sz="2000" dirty="0"/>
              <a:t>在需要做</a:t>
            </a:r>
            <a:r>
              <a:rPr lang="en-US" altLang="zh-TW" sz="2000" dirty="0"/>
              <a:t>normalize</a:t>
            </a:r>
            <a:r>
              <a:rPr lang="zh-TW" altLang="en-US" sz="2000" dirty="0"/>
              <a:t>前 如 作圖 建議先處理雜訊 削去極端值 方便結果清晰顯示</a:t>
            </a:r>
            <a:endParaRPr lang="en-US" altLang="zh-TW" sz="2000" dirty="0"/>
          </a:p>
          <a:p>
            <a:pPr marL="0" indent="0">
              <a:buNone/>
            </a:pPr>
            <a:r>
              <a:rPr lang="zh-TW" altLang="en-US" sz="2000" dirty="0">
                <a:latin typeface="Century Gothic" panose="020B0502020202020204" pitchFamily="34" charset="0"/>
              </a:rPr>
              <a:t>●</a:t>
            </a:r>
            <a:r>
              <a:rPr lang="zh-TW" altLang="en-US" sz="2000" dirty="0"/>
              <a:t>圖片合併不完美 或圖片有漏洞 可以用一些方法調整</a:t>
            </a:r>
            <a:r>
              <a:rPr lang="en-US" altLang="zh-TW" sz="2000" dirty="0"/>
              <a:t>(</a:t>
            </a:r>
            <a:r>
              <a:rPr lang="zh-TW" altLang="en-US" sz="2000" dirty="0"/>
              <a:t>如內插等</a:t>
            </a:r>
            <a:r>
              <a:rPr lang="en-US" altLang="zh-TW" sz="2000" dirty="0"/>
              <a:t>) </a:t>
            </a:r>
          </a:p>
          <a:p>
            <a:pPr marL="0" indent="0">
              <a:buNone/>
            </a:pPr>
            <a:r>
              <a:rPr lang="zh-TW" altLang="en-US" sz="2000" dirty="0">
                <a:latin typeface="Century Gothic" panose="020B0502020202020204" pitchFamily="34" charset="0"/>
              </a:rPr>
              <a:t>●</a:t>
            </a:r>
            <a:r>
              <a:rPr lang="zh-TW" altLang="en-US" sz="2000" dirty="0"/>
              <a:t>使用工具不限，</a:t>
            </a:r>
            <a:r>
              <a:rPr lang="en-US" altLang="zh-TW" sz="2000" dirty="0" err="1"/>
              <a:t>matlab</a:t>
            </a:r>
            <a:r>
              <a:rPr lang="en-US" altLang="zh-TW" sz="2000" dirty="0"/>
              <a:t> c/</a:t>
            </a:r>
            <a:r>
              <a:rPr lang="en-US" altLang="zh-TW" sz="2000" dirty="0" err="1"/>
              <a:t>c++</a:t>
            </a:r>
            <a:r>
              <a:rPr lang="en-US" altLang="zh-TW" sz="2000" dirty="0"/>
              <a:t> python </a:t>
            </a:r>
            <a:r>
              <a:rPr lang="en-US" altLang="zh-TW" sz="2000" dirty="0" err="1"/>
              <a:t>chatgpt</a:t>
            </a:r>
            <a:r>
              <a:rPr lang="en-US" altLang="zh-TW" sz="2000" dirty="0"/>
              <a:t>…</a:t>
            </a:r>
            <a:r>
              <a:rPr lang="zh-TW" altLang="en-US" sz="2000" dirty="0"/>
              <a:t>皆可</a:t>
            </a:r>
          </a:p>
        </p:txBody>
      </p:sp>
    </p:spTree>
    <p:extLst>
      <p:ext uri="{BB962C8B-B14F-4D97-AF65-F5344CB8AC3E}">
        <p14:creationId xmlns:p14="http://schemas.microsoft.com/office/powerpoint/2010/main" val="39468422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AB734A-F671-4681-A7E9-B4DDE06FB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2738966" cy="698500"/>
          </a:xfrm>
        </p:spPr>
        <p:txBody>
          <a:bodyPr>
            <a:noAutofit/>
          </a:bodyPr>
          <a:lstStyle/>
          <a:p>
            <a:r>
              <a:rPr lang="zh-TW" altLang="en-US" sz="4000" dirty="0"/>
              <a:t>作業要求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00B8D8-1F28-4915-82CF-2E1BC0A3C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700" y="1447800"/>
            <a:ext cx="9817100" cy="4902200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>
                <a:latin typeface="Century Gothic" panose="020B0502020202020204" pitchFamily="34" charset="0"/>
              </a:rPr>
              <a:t>●</a:t>
            </a:r>
            <a:r>
              <a:rPr lang="en-US" altLang="zh-TW" dirty="0"/>
              <a:t>Part</a:t>
            </a:r>
            <a:r>
              <a:rPr lang="zh-TW" altLang="en-US" dirty="0"/>
              <a:t> </a:t>
            </a:r>
            <a:r>
              <a:rPr lang="en-US" altLang="zh-TW" dirty="0"/>
              <a:t>1</a:t>
            </a:r>
            <a:r>
              <a:rPr lang="zh-TW" altLang="en-US" dirty="0"/>
              <a:t>  </a:t>
            </a:r>
            <a:r>
              <a:rPr lang="en-US" altLang="zh-TW" dirty="0"/>
              <a:t>Part</a:t>
            </a:r>
            <a:r>
              <a:rPr lang="zh-TW" altLang="en-US" dirty="0"/>
              <a:t> </a:t>
            </a:r>
            <a:r>
              <a:rPr lang="en-US" altLang="zh-TW" dirty="0"/>
              <a:t>2:</a:t>
            </a:r>
            <a:r>
              <a:rPr lang="zh-TW" altLang="en-US" dirty="0"/>
              <a:t>完成</a:t>
            </a:r>
            <a:r>
              <a:rPr lang="en-US" altLang="zh-TW" dirty="0"/>
              <a:t>histogram</a:t>
            </a:r>
            <a:r>
              <a:rPr lang="zh-TW" altLang="en-US" dirty="0"/>
              <a:t>與求出位置估計值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>
                <a:latin typeface="Century Gothic" panose="020B0502020202020204" pitchFamily="34" charset="0"/>
              </a:rPr>
              <a:t>●</a:t>
            </a:r>
            <a:r>
              <a:rPr lang="en-US" altLang="zh-TW" dirty="0"/>
              <a:t>Part</a:t>
            </a:r>
            <a:r>
              <a:rPr lang="zh-TW" altLang="en-US" dirty="0"/>
              <a:t> </a:t>
            </a:r>
            <a:r>
              <a:rPr lang="en-US" altLang="zh-TW" dirty="0"/>
              <a:t>3:</a:t>
            </a:r>
            <a:r>
              <a:rPr lang="zh-TW" altLang="en-US" dirty="0"/>
              <a:t>完成一張影像的</a:t>
            </a:r>
            <a:r>
              <a:rPr lang="en-US" altLang="zh-TW" dirty="0"/>
              <a:t>(1)</a:t>
            </a:r>
            <a:r>
              <a:rPr lang="zh-TW" altLang="en-US" dirty="0"/>
              <a:t>原深度圖 </a:t>
            </a:r>
            <a:r>
              <a:rPr lang="en-US" altLang="zh-TW" dirty="0"/>
              <a:t>(2)</a:t>
            </a:r>
            <a:r>
              <a:rPr lang="zh-TW" altLang="en-US" dirty="0"/>
              <a:t>邊緣圖</a:t>
            </a:r>
            <a:r>
              <a:rPr lang="en-US" altLang="zh-TW" dirty="0"/>
              <a:t>(</a:t>
            </a:r>
            <a:r>
              <a:rPr lang="zh-TW" altLang="en-US" dirty="0"/>
              <a:t>黑底白邊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r>
              <a:rPr lang="zh-TW" altLang="en-US" dirty="0">
                <a:latin typeface="Century Gothic" panose="020B0502020202020204" pitchFamily="34" charset="0"/>
              </a:rPr>
              <a:t>●</a:t>
            </a:r>
            <a:r>
              <a:rPr lang="en-US" altLang="zh-TW" dirty="0"/>
              <a:t>Part</a:t>
            </a:r>
            <a:r>
              <a:rPr lang="zh-TW" altLang="en-US" dirty="0"/>
              <a:t> </a:t>
            </a:r>
            <a:r>
              <a:rPr lang="en-US" altLang="zh-TW" dirty="0"/>
              <a:t>4:</a:t>
            </a:r>
            <a:r>
              <a:rPr lang="zh-TW" altLang="en-US" dirty="0"/>
              <a:t>完成</a:t>
            </a:r>
            <a:r>
              <a:rPr lang="en-US" altLang="zh-TW" dirty="0"/>
              <a:t>(1)</a:t>
            </a:r>
            <a:r>
              <a:rPr lang="zh-TW" altLang="en-US" dirty="0"/>
              <a:t>合併前的圖片 </a:t>
            </a:r>
            <a:r>
              <a:rPr lang="en-US" altLang="zh-TW" dirty="0"/>
              <a:t>(2)</a:t>
            </a:r>
            <a:r>
              <a:rPr lang="zh-TW" altLang="en-US" dirty="0"/>
              <a:t>合併後的深度圖</a:t>
            </a:r>
            <a:r>
              <a:rPr lang="en-US" altLang="zh-TW" dirty="0"/>
              <a:t>(</a:t>
            </a:r>
            <a:r>
              <a:rPr lang="zh-TW" altLang="en-US" dirty="0"/>
              <a:t>彩色</a:t>
            </a:r>
            <a:r>
              <a:rPr lang="en-US" altLang="zh-TW" dirty="0"/>
              <a:t>/</a:t>
            </a:r>
            <a:r>
              <a:rPr lang="zh-TW" altLang="en-US" dirty="0"/>
              <a:t>灰階都可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(3)</a:t>
            </a:r>
            <a:r>
              <a:rPr lang="zh-TW" altLang="en-US" dirty="0"/>
              <a:t>合併後並轉視角深度圖</a:t>
            </a:r>
            <a:r>
              <a:rPr lang="en-US" altLang="zh-TW" dirty="0"/>
              <a:t>(</a:t>
            </a:r>
            <a:r>
              <a:rPr lang="zh-TW" altLang="en-US" dirty="0"/>
              <a:t>彩色</a:t>
            </a:r>
            <a:r>
              <a:rPr lang="en-US" altLang="zh-TW" dirty="0"/>
              <a:t>/</a:t>
            </a:r>
            <a:r>
              <a:rPr lang="zh-TW" altLang="en-US" dirty="0"/>
              <a:t>灰階都可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(4)</a:t>
            </a:r>
            <a:r>
              <a:rPr lang="zh-TW" altLang="en-US" dirty="0"/>
              <a:t>合併後的邊緣圖</a:t>
            </a:r>
            <a:endParaRPr lang="en-US" altLang="zh-TW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altLang="zh-TW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zh-TW" altLang="en-US" dirty="0">
                <a:latin typeface="Century Gothic" panose="020B0502020202020204" pitchFamily="34" charset="0"/>
              </a:rPr>
              <a:t>●</a:t>
            </a:r>
            <a:r>
              <a:rPr lang="zh-TW" altLang="en-US" dirty="0"/>
              <a:t>問題與討論</a:t>
            </a:r>
            <a:r>
              <a:rPr lang="en-US" altLang="zh-TW" dirty="0"/>
              <a:t>:</a:t>
            </a:r>
          </a:p>
          <a:p>
            <a:pPr marL="0" indent="0">
              <a:buNone/>
            </a:pPr>
            <a:r>
              <a:rPr lang="en-US" altLang="zh-TW" dirty="0">
                <a:cs typeface="Arial" panose="020B0604020202020204" pitchFamily="34" charset="0"/>
              </a:rPr>
              <a:t>(1)</a:t>
            </a:r>
            <a:r>
              <a:rPr lang="zh-TW" altLang="en-US" dirty="0">
                <a:cs typeface="Arial" panose="020B0604020202020204" pitchFamily="34" charset="0"/>
              </a:rPr>
              <a:t>接收到複數光子只取第一個是否合理 或什麼條件下適合或不適合使用這個方法</a:t>
            </a:r>
            <a:endParaRPr lang="en-US" altLang="zh-TW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TW" dirty="0">
                <a:cs typeface="Arial" panose="020B0604020202020204" pitchFamily="34" charset="0"/>
              </a:rPr>
              <a:t>(2)</a:t>
            </a:r>
            <a:r>
              <a:rPr lang="zh-TW" altLang="en-US" dirty="0">
                <a:cs typeface="Arial" panose="020B0604020202020204" pitchFamily="34" charset="0"/>
              </a:rPr>
              <a:t>解釋</a:t>
            </a:r>
            <a:r>
              <a:rPr lang="en-US" altLang="zh-TW" dirty="0">
                <a:cs typeface="Arial" panose="020B0604020202020204" pitchFamily="34" charset="0"/>
              </a:rPr>
              <a:t>Part 2</a:t>
            </a:r>
            <a:r>
              <a:rPr lang="zh-TW" altLang="en-US" dirty="0">
                <a:cs typeface="Arial" panose="020B0604020202020204" pitchFamily="34" charset="0"/>
              </a:rPr>
              <a:t> 挑選</a:t>
            </a:r>
            <a:r>
              <a:rPr lang="en-US" altLang="zh-TW" dirty="0">
                <a:cs typeface="Arial" panose="020B0604020202020204" pitchFamily="34" charset="0"/>
              </a:rPr>
              <a:t>window</a:t>
            </a:r>
            <a:r>
              <a:rPr lang="zh-TW" altLang="en-US" dirty="0">
                <a:cs typeface="Arial" panose="020B0604020202020204" pitchFamily="34" charset="0"/>
              </a:rPr>
              <a:t>的大小及理由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>
                <a:cs typeface="Arial" panose="020B0604020202020204" pitchFamily="34" charset="0"/>
              </a:rPr>
              <a:t>(3)</a:t>
            </a:r>
            <a:r>
              <a:rPr lang="zh-TW" altLang="en-US" dirty="0"/>
              <a:t>簡單解釋</a:t>
            </a:r>
            <a:r>
              <a:rPr lang="en-US" altLang="zh-TW" dirty="0"/>
              <a:t>Part</a:t>
            </a:r>
            <a:r>
              <a:rPr lang="zh-TW" altLang="en-US" dirty="0"/>
              <a:t> </a:t>
            </a:r>
            <a:r>
              <a:rPr lang="en-US" altLang="zh-TW" dirty="0"/>
              <a:t>3</a:t>
            </a:r>
            <a:r>
              <a:rPr lang="zh-TW" altLang="en-US" dirty="0"/>
              <a:t>選用的方法 並評估這個方法的優勢與缺點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>
                <a:cs typeface="Arial" panose="020B0604020202020204" pitchFamily="34" charset="0"/>
              </a:rPr>
              <a:t>(4)</a:t>
            </a:r>
            <a:r>
              <a:rPr lang="zh-TW" altLang="en-US" dirty="0"/>
              <a:t>簡單解釋</a:t>
            </a:r>
            <a:r>
              <a:rPr lang="en-US" altLang="zh-TW" dirty="0"/>
              <a:t>Part</a:t>
            </a:r>
            <a:r>
              <a:rPr lang="zh-TW" altLang="en-US" dirty="0"/>
              <a:t> </a:t>
            </a:r>
            <a:r>
              <a:rPr lang="en-US" altLang="zh-TW" dirty="0"/>
              <a:t>4</a:t>
            </a:r>
            <a:r>
              <a:rPr lang="zh-TW" altLang="en-US" dirty="0"/>
              <a:t>選用的方法 並評估這個方法的優勢與缺點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>
                <a:cs typeface="Arial" panose="020B0604020202020204" pitchFamily="34" charset="0"/>
              </a:rPr>
              <a:t>(5)</a:t>
            </a:r>
            <a:r>
              <a:rPr lang="zh-TW" altLang="en-US" dirty="0"/>
              <a:t>對這次實驗的建議 或拿光達做什麼樣的實驗</a:t>
            </a:r>
            <a:r>
              <a:rPr lang="en-US" altLang="zh-TW" dirty="0"/>
              <a:t>(</a:t>
            </a:r>
            <a:r>
              <a:rPr lang="zh-TW" altLang="en-US" dirty="0"/>
              <a:t>選填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endParaRPr lang="en-US" altLang="zh-TW" dirty="0"/>
          </a:p>
          <a:p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44187346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7069</TotalTime>
  <Words>1461</Words>
  <Application>Microsoft Office PowerPoint</Application>
  <PresentationFormat>寬螢幕</PresentationFormat>
  <Paragraphs>149</Paragraphs>
  <Slides>24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31" baseType="lpstr">
      <vt:lpstr>Arial</vt:lpstr>
      <vt:lpstr>Cambria Math</vt:lpstr>
      <vt:lpstr>Century Gothic</vt:lpstr>
      <vt:lpstr>Times New Roman</vt:lpstr>
      <vt:lpstr>Trebuchet MS</vt:lpstr>
      <vt:lpstr>Wingdings 3</vt:lpstr>
      <vt:lpstr>多面向</vt:lpstr>
      <vt:lpstr>DSP LAB4 光達實驗</vt:lpstr>
      <vt:lpstr>實驗目的</vt:lpstr>
      <vt:lpstr>實驗內容</vt:lpstr>
      <vt:lpstr>Part 1:製作出histogram</vt:lpstr>
      <vt:lpstr>光達(LiDAR)測距原理</vt:lpstr>
      <vt:lpstr>有可能的情況</vt:lpstr>
      <vt:lpstr>建立histogram說明</vt:lpstr>
      <vt:lpstr>Part 2:Window+取質心</vt:lpstr>
      <vt:lpstr>Window+取質心</vt:lpstr>
      <vt:lpstr>建立histogram </vt:lpstr>
      <vt:lpstr>光達使用與資料指引</vt:lpstr>
      <vt:lpstr>光達使用指引</vt:lpstr>
      <vt:lpstr>檔案說明 </vt:lpstr>
      <vt:lpstr>影像相關資料說明</vt:lpstr>
      <vt:lpstr>Part 3:邊緣檢測</vt:lpstr>
      <vt:lpstr>邊緣檢測</vt:lpstr>
      <vt:lpstr>參考做法</vt:lpstr>
      <vt:lpstr>Part 4:圖片合併</vt:lpstr>
      <vt:lpstr>圖片合併</vt:lpstr>
      <vt:lpstr>參考做法</vt:lpstr>
      <vt:lpstr>ICP(Iterative closest point)簡介</vt:lpstr>
      <vt:lpstr>ICP演算法流程</vt:lpstr>
      <vt:lpstr>注意事項</vt:lpstr>
      <vt:lpstr>作業要求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DSP LAB4</dc:title>
  <dc:creator>ken</dc:creator>
  <cp:lastModifiedBy>惠心 簡</cp:lastModifiedBy>
  <cp:revision>106</cp:revision>
  <dcterms:created xsi:type="dcterms:W3CDTF">2023-10-30T13:30:21Z</dcterms:created>
  <dcterms:modified xsi:type="dcterms:W3CDTF">2025-11-24T03:10:15Z</dcterms:modified>
</cp:coreProperties>
</file>